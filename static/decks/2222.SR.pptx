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Sheet1!$A$2:$A$52</c:f>
              <c:strCache>
                <c:ptCount val="51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06-16</c:v>
                </c:pt>
                <c:pt idx="5">
                  <c:v>06-23</c:v>
                </c:pt>
                <c:pt idx="6">
                  <c:v>06-30</c:v>
                </c:pt>
                <c:pt idx="7">
                  <c:v>07-07</c:v>
                </c:pt>
                <c:pt idx="8">
                  <c:v>07-14</c:v>
                </c:pt>
                <c:pt idx="9">
                  <c:v>07-21</c:v>
                </c:pt>
                <c:pt idx="10">
                  <c:v>07-28</c:v>
                </c:pt>
                <c:pt idx="11">
                  <c:v>08-04</c:v>
                </c:pt>
                <c:pt idx="12">
                  <c:v>08-11</c:v>
                </c:pt>
                <c:pt idx="13">
                  <c:v>08-18</c:v>
                </c:pt>
                <c:pt idx="14">
                  <c:v>08-25</c:v>
                </c:pt>
                <c:pt idx="15">
                  <c:v>09-01</c:v>
                </c:pt>
                <c:pt idx="16">
                  <c:v>09-08</c:v>
                </c:pt>
                <c:pt idx="17">
                  <c:v>09-15</c:v>
                </c:pt>
                <c:pt idx="18">
                  <c:v>09-22</c:v>
                </c:pt>
                <c:pt idx="19">
                  <c:v>09-30</c:v>
                </c:pt>
                <c:pt idx="20">
                  <c:v>10-07</c:v>
                </c:pt>
                <c:pt idx="21">
                  <c:v>10-14</c:v>
                </c:pt>
                <c:pt idx="22">
                  <c:v>10-21</c:v>
                </c:pt>
                <c:pt idx="23">
                  <c:v>10-28</c:v>
                </c:pt>
                <c:pt idx="24">
                  <c:v>11-04</c:v>
                </c:pt>
                <c:pt idx="25">
                  <c:v>11-11</c:v>
                </c:pt>
                <c:pt idx="26">
                  <c:v>11-18</c:v>
                </c:pt>
                <c:pt idx="27">
                  <c:v>11-25</c:v>
                </c:pt>
                <c:pt idx="28">
                  <c:v>12-02</c:v>
                </c:pt>
                <c:pt idx="29">
                  <c:v>12-09</c:v>
                </c:pt>
                <c:pt idx="30">
                  <c:v>12-16</c:v>
                </c:pt>
                <c:pt idx="31">
                  <c:v>12-23</c:v>
                </c:pt>
                <c:pt idx="32">
                  <c:v>12-30</c:v>
                </c:pt>
                <c:pt idx="33">
                  <c:v>01-06</c:v>
                </c:pt>
                <c:pt idx="34">
                  <c:v>01-13</c:v>
                </c:pt>
                <c:pt idx="35">
                  <c:v>01-20</c:v>
                </c:pt>
                <c:pt idx="36">
                  <c:v>01-27</c:v>
                </c:pt>
                <c:pt idx="37">
                  <c:v>02-03</c:v>
                </c:pt>
                <c:pt idx="38">
                  <c:v>02-10</c:v>
                </c:pt>
                <c:pt idx="39">
                  <c:v>02-17</c:v>
                </c:pt>
                <c:pt idx="40">
                  <c:v>02-25</c:v>
                </c:pt>
                <c:pt idx="41">
                  <c:v>03-04</c:v>
                </c:pt>
                <c:pt idx="42">
                  <c:v>03-11</c:v>
                </c:pt>
                <c:pt idx="43">
                  <c:v>03-25</c:v>
                </c:pt>
                <c:pt idx="44">
                  <c:v>04-01</c:v>
                </c:pt>
                <c:pt idx="45">
                  <c:v>04-08</c:v>
                </c:pt>
                <c:pt idx="46">
                  <c:v>04-15</c:v>
                </c:pt>
                <c:pt idx="47">
                  <c:v>04-22</c:v>
                </c:pt>
                <c:pt idx="48">
                  <c:v>04-29</c:v>
                </c:pt>
                <c:pt idx="49">
                  <c:v>05-06</c:v>
                </c:pt>
                <c:pt idx="50">
                  <c:v>05-13</c:v>
                </c:pt>
              </c:strCache>
            </c: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25.549999237060547</c:v>
                </c:pt>
                <c:pt idx="1">
                  <c:v>26.200000762939453</c:v>
                </c:pt>
                <c:pt idx="2">
                  <c:v>25.049999237060547</c:v>
                </c:pt>
                <c:pt idx="3">
                  <c:v>24.81999969482422</c:v>
                </c:pt>
                <c:pt idx="4">
                  <c:v>25.299999237060547</c:v>
                </c:pt>
                <c:pt idx="5">
                  <c:v>24.739999771118164</c:v>
                </c:pt>
                <c:pt idx="6">
                  <c:v>24.31999969482422</c:v>
                </c:pt>
                <c:pt idx="7">
                  <c:v>25.079999923706055</c:v>
                </c:pt>
                <c:pt idx="8">
                  <c:v>24.860000610351562</c:v>
                </c:pt>
                <c:pt idx="9">
                  <c:v>24.100000381469727</c:v>
                </c:pt>
                <c:pt idx="10">
                  <c:v>24.15999984741211</c:v>
                </c:pt>
                <c:pt idx="11">
                  <c:v>23.90999984741211</c:v>
                </c:pt>
                <c:pt idx="12">
                  <c:v>24.049999237060547</c:v>
                </c:pt>
                <c:pt idx="13">
                  <c:v>24.1299991607666</c:v>
                </c:pt>
                <c:pt idx="14">
                  <c:v>23.790000915527344</c:v>
                </c:pt>
                <c:pt idx="15">
                  <c:v>23.600000381469727</c:v>
                </c:pt>
                <c:pt idx="16">
                  <c:v>23.25</c:v>
                </c:pt>
                <c:pt idx="17">
                  <c:v>23.219999313354492</c:v>
                </c:pt>
                <c:pt idx="18">
                  <c:v>24.950000762939453</c:v>
                </c:pt>
                <c:pt idx="19">
                  <c:v>24.6200008392334</c:v>
                </c:pt>
                <c:pt idx="20">
                  <c:v>24.809999465942383</c:v>
                </c:pt>
                <c:pt idx="21">
                  <c:v>24.75</c:v>
                </c:pt>
                <c:pt idx="22">
                  <c:v>25.040000915527344</c:v>
                </c:pt>
                <c:pt idx="23">
                  <c:v>25.8799991607666</c:v>
                </c:pt>
                <c:pt idx="24">
                  <c:v>25.760000228881836</c:v>
                </c:pt>
                <c:pt idx="25">
                  <c:v>25.940000534057617</c:v>
                </c:pt>
                <c:pt idx="26">
                  <c:v>25.84000015258789</c:v>
                </c:pt>
                <c:pt idx="27">
                  <c:v>24.56999969482422</c:v>
                </c:pt>
                <c:pt idx="28">
                  <c:v>24.399999618530273</c:v>
                </c:pt>
                <c:pt idx="29">
                  <c:v>24.34000015258789</c:v>
                </c:pt>
                <c:pt idx="30">
                  <c:v>23.75</c:v>
                </c:pt>
                <c:pt idx="31">
                  <c:v>23.760000228881836</c:v>
                </c:pt>
                <c:pt idx="32">
                  <c:v>23.6200008392334</c:v>
                </c:pt>
                <c:pt idx="33">
                  <c:v>23.440000534057617</c:v>
                </c:pt>
                <c:pt idx="34">
                  <c:v>24.920000076293945</c:v>
                </c:pt>
                <c:pt idx="35">
                  <c:v>25.0</c:v>
                </c:pt>
                <c:pt idx="36">
                  <c:v>25.260000228881836</c:v>
                </c:pt>
                <c:pt idx="37">
                  <c:v>25.600000381469727</c:v>
                </c:pt>
                <c:pt idx="38">
                  <c:v>25.860000610351562</c:v>
                </c:pt>
                <c:pt idx="39">
                  <c:v>25.440000534057617</c:v>
                </c:pt>
                <c:pt idx="40">
                  <c:v>25.739999771118164</c:v>
                </c:pt>
                <c:pt idx="41">
                  <c:v>26.100000381469727</c:v>
                </c:pt>
                <c:pt idx="42">
                  <c:v>27.15999984741211</c:v>
                </c:pt>
                <c:pt idx="43">
                  <c:v>26.860000610351562</c:v>
                </c:pt>
                <c:pt idx="44">
                  <c:v>27.559999465942383</c:v>
                </c:pt>
                <c:pt idx="45">
                  <c:v>26.979999542236328</c:v>
                </c:pt>
                <c:pt idx="46">
                  <c:v>27.540000915527344</c:v>
                </c:pt>
                <c:pt idx="47">
                  <c:v>27.260000228881836</c:v>
                </c:pt>
                <c:pt idx="48">
                  <c:v>27.579999923706055</c:v>
                </c:pt>
                <c:pt idx="49">
                  <c:v>27.0</c:v>
                </c:pt>
                <c:pt idx="50">
                  <c:v>27.8799991607666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Saudi Arabian Oil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2222.SR  ·  Energy  ·  Oil &amp; Gas Integrated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18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OUTPERFORM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SAR 29.60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+6.4%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 27.82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 6.73T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15.1x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5.63%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+3.3%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+8.9%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+7.5%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+16.8%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SAR 23.13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SAR 27.88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4243394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5441258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83474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SAR 27.82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Saudi Arabian Oil Company sits in the Energy sector (Oil &amp; Gas Integrated). Street consensus is outperform (18 analysts covering); consensus target 29.60. The shares trade at a P/E around 15.1x trailing earnings. The macro and commodity backdrop is anchored by brent at 68  (-20.9% YoY); wti at 64  (-21.9% YoY).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0.463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445.3B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FY2026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0.520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FY2026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493.3B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FY2027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0.580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72414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FY2027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57424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7424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544.1B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57424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7424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0167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60167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60167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5.63%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60167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60167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Aug 04, 2026 (period 06/2026)  ·  Consensus: Investing  ·  18 analysts covering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64" name="Oval 63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29.8% last quarter; 1 of last 4 quarters above estimates</a:t>
            </a:r>
          </a:p>
        </p:txBody>
      </p:sp>
      <p:sp>
        <p:nvSpPr>
          <p:cNvPr id="66" name="Oval 65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68" name="Oval 67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73" name="Oval 72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75" name="Oval 74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77" name="Oval 76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SAR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775181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52821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44261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18.1x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48376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1407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2847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11.8x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67268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50328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1768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17.6x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59069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68334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9774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17.2x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44720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24843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16283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85274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30383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1823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13.6x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116022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37862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29302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15.1x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116022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137862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29302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15.1x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9x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13x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17x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21x</a:t>
            </a:r>
          </a:p>
        </p:txBody>
      </p:sp>
      <p:sp>
        <p:nvSpPr>
          <p:cNvPr id="49" name="Diamond 48"/>
          <p:cNvSpPr/>
          <p:nvPr/>
        </p:nvSpPr>
        <p:spPr>
          <a:xfrm>
            <a:off x="5110430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75022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(15.1x)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Saudi Arabia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KSA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$739M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-8.3%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3227"/>
                </a:solidFill>
                <a:latin typeface="Calibri"/>
              </a:rPr>
              <a:t>-1.8%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835151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56360" y="8220456"/>
            <a:ext cx="835151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50%   Hold 50%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18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SAR 29.60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SAR 26 — 35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+6.4%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Kepler Cheuvreux Raises Saudi Aramco's PT, Affirms Hold Rating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HSBC Lifts Saudi Aramco's PT, Affirms Hold Rating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Goldman Sachs Boosts Saudi Aramco's PT, Retains at Buy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