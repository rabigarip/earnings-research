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Sheet1!$A$2:$A$52</c:f>
              <c:strCache>
                <c:ptCount val="51"/>
                <c:pt idx="0">
                  <c:v>05-12</c:v>
                </c:pt>
                <c:pt idx="1">
                  <c:v>05-19</c:v>
                </c:pt>
                <c:pt idx="2">
                  <c:v>05-26</c:v>
                </c:pt>
                <c:pt idx="3">
                  <c:v>06-02</c:v>
                </c:pt>
                <c:pt idx="4">
                  <c:v>06-15</c:v>
                </c:pt>
                <c:pt idx="5">
                  <c:v>06-22</c:v>
                </c:pt>
                <c:pt idx="6">
                  <c:v>06-29</c:v>
                </c:pt>
                <c:pt idx="7">
                  <c:v>07-06</c:v>
                </c:pt>
                <c:pt idx="8">
                  <c:v>07-13</c:v>
                </c:pt>
                <c:pt idx="9">
                  <c:v>07-20</c:v>
                </c:pt>
                <c:pt idx="10">
                  <c:v>07-27</c:v>
                </c:pt>
                <c:pt idx="11">
                  <c:v>08-03</c:v>
                </c:pt>
                <c:pt idx="12">
                  <c:v>08-10</c:v>
                </c:pt>
                <c:pt idx="13">
                  <c:v>08-17</c:v>
                </c:pt>
                <c:pt idx="14">
                  <c:v>08-24</c:v>
                </c:pt>
                <c:pt idx="15">
                  <c:v>08-31</c:v>
                </c:pt>
                <c:pt idx="16">
                  <c:v>09-07</c:v>
                </c:pt>
                <c:pt idx="17">
                  <c:v>09-14</c:v>
                </c:pt>
                <c:pt idx="18">
                  <c:v>09-21</c:v>
                </c:pt>
                <c:pt idx="19">
                  <c:v>09-29</c:v>
                </c:pt>
                <c:pt idx="20">
                  <c:v>10-06</c:v>
                </c:pt>
                <c:pt idx="21">
                  <c:v>10-13</c:v>
                </c:pt>
                <c:pt idx="22">
                  <c:v>10-20</c:v>
                </c:pt>
                <c:pt idx="23">
                  <c:v>10-27</c:v>
                </c:pt>
                <c:pt idx="24">
                  <c:v>11-03</c:v>
                </c:pt>
                <c:pt idx="25">
                  <c:v>11-10</c:v>
                </c:pt>
                <c:pt idx="26">
                  <c:v>11-17</c:v>
                </c:pt>
                <c:pt idx="27">
                  <c:v>11-24</c:v>
                </c:pt>
                <c:pt idx="28">
                  <c:v>12-01</c:v>
                </c:pt>
                <c:pt idx="29">
                  <c:v>12-08</c:v>
                </c:pt>
                <c:pt idx="30">
                  <c:v>12-15</c:v>
                </c:pt>
                <c:pt idx="31">
                  <c:v>12-22</c:v>
                </c:pt>
                <c:pt idx="32">
                  <c:v>12-29</c:v>
                </c:pt>
                <c:pt idx="33">
                  <c:v>01-05</c:v>
                </c:pt>
                <c:pt idx="34">
                  <c:v>01-12</c:v>
                </c:pt>
                <c:pt idx="35">
                  <c:v>01-19</c:v>
                </c:pt>
                <c:pt idx="36">
                  <c:v>01-26</c:v>
                </c:pt>
                <c:pt idx="37">
                  <c:v>02-02</c:v>
                </c:pt>
                <c:pt idx="38">
                  <c:v>02-09</c:v>
                </c:pt>
                <c:pt idx="39">
                  <c:v>02-16</c:v>
                </c:pt>
                <c:pt idx="40">
                  <c:v>02-24</c:v>
                </c:pt>
                <c:pt idx="41">
                  <c:v>03-03</c:v>
                </c:pt>
                <c:pt idx="42">
                  <c:v>03-10</c:v>
                </c:pt>
                <c:pt idx="43">
                  <c:v>03-24</c:v>
                </c:pt>
                <c:pt idx="44">
                  <c:v>03-31</c:v>
                </c:pt>
                <c:pt idx="45">
                  <c:v>04-07</c:v>
                </c:pt>
                <c:pt idx="46">
                  <c:v>04-14</c:v>
                </c:pt>
                <c:pt idx="47">
                  <c:v>04-21</c:v>
                </c:pt>
                <c:pt idx="48">
                  <c:v>04-28</c:v>
                </c:pt>
                <c:pt idx="49">
                  <c:v>05-05</c:v>
                </c:pt>
                <c:pt idx="50">
                  <c:v>05-12</c:v>
                </c:pt>
              </c:strCache>
            </c: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25.549999237060547</c:v>
                </c:pt>
                <c:pt idx="1">
                  <c:v>26.25</c:v>
                </c:pt>
                <c:pt idx="2">
                  <c:v>25.200000762939453</c:v>
                </c:pt>
                <c:pt idx="3">
                  <c:v>25.0</c:v>
                </c:pt>
                <c:pt idx="4">
                  <c:v>25.399999618530273</c:v>
                </c:pt>
                <c:pt idx="5">
                  <c:v>24.81999969482422</c:v>
                </c:pt>
                <c:pt idx="6">
                  <c:v>24.299999237060547</c:v>
                </c:pt>
                <c:pt idx="7">
                  <c:v>24.8700008392334</c:v>
                </c:pt>
                <c:pt idx="8">
                  <c:v>24.959999084472656</c:v>
                </c:pt>
                <c:pt idx="9">
                  <c:v>24.110000610351562</c:v>
                </c:pt>
                <c:pt idx="10">
                  <c:v>24.110000610351562</c:v>
                </c:pt>
                <c:pt idx="11">
                  <c:v>24.0</c:v>
                </c:pt>
                <c:pt idx="12">
                  <c:v>24.139999389648438</c:v>
                </c:pt>
                <c:pt idx="13">
                  <c:v>24.15999984741211</c:v>
                </c:pt>
                <c:pt idx="14">
                  <c:v>23.8700008392334</c:v>
                </c:pt>
                <c:pt idx="15">
                  <c:v>23.799999237060547</c:v>
                </c:pt>
                <c:pt idx="16">
                  <c:v>23.469999313354492</c:v>
                </c:pt>
                <c:pt idx="17">
                  <c:v>23.15999984741211</c:v>
                </c:pt>
                <c:pt idx="18">
                  <c:v>24.93000030517578</c:v>
                </c:pt>
                <c:pt idx="19">
                  <c:v>24.989999771118164</c:v>
                </c:pt>
                <c:pt idx="20">
                  <c:v>24.850000381469727</c:v>
                </c:pt>
                <c:pt idx="21">
                  <c:v>24.729999542236328</c:v>
                </c:pt>
                <c:pt idx="22">
                  <c:v>25.059999465942383</c:v>
                </c:pt>
                <c:pt idx="23">
                  <c:v>25.799999237060547</c:v>
                </c:pt>
                <c:pt idx="24">
                  <c:v>25.579999923706055</c:v>
                </c:pt>
                <c:pt idx="25">
                  <c:v>25.940000534057617</c:v>
                </c:pt>
                <c:pt idx="26">
                  <c:v>25.84000015258789</c:v>
                </c:pt>
                <c:pt idx="27">
                  <c:v>25.239999771118164</c:v>
                </c:pt>
                <c:pt idx="28">
                  <c:v>24.329999923706055</c:v>
                </c:pt>
                <c:pt idx="29">
                  <c:v>24.31999969482422</c:v>
                </c:pt>
                <c:pt idx="30">
                  <c:v>24.0</c:v>
                </c:pt>
                <c:pt idx="31">
                  <c:v>23.75</c:v>
                </c:pt>
                <c:pt idx="32">
                  <c:v>23.700000762939453</c:v>
                </c:pt>
                <c:pt idx="33">
                  <c:v>23.40999984741211</c:v>
                </c:pt>
                <c:pt idx="34">
                  <c:v>24.260000228881836</c:v>
                </c:pt>
                <c:pt idx="35">
                  <c:v>24.889999389648438</c:v>
                </c:pt>
                <c:pt idx="36">
                  <c:v>25.260000228881836</c:v>
                </c:pt>
                <c:pt idx="37">
                  <c:v>25.600000381469727</c:v>
                </c:pt>
                <c:pt idx="38">
                  <c:v>25.68000030517578</c:v>
                </c:pt>
                <c:pt idx="39">
                  <c:v>25.600000381469727</c:v>
                </c:pt>
                <c:pt idx="40">
                  <c:v>25.84000015258789</c:v>
                </c:pt>
                <c:pt idx="41">
                  <c:v>26.719999313354492</c:v>
                </c:pt>
                <c:pt idx="42">
                  <c:v>26.899999618530273</c:v>
                </c:pt>
                <c:pt idx="43">
                  <c:v>26.65999984741211</c:v>
                </c:pt>
                <c:pt idx="44">
                  <c:v>27.399999618530273</c:v>
                </c:pt>
                <c:pt idx="45">
                  <c:v>27.520000457763672</c:v>
                </c:pt>
                <c:pt idx="46">
                  <c:v>27.360000610351562</c:v>
                </c:pt>
                <c:pt idx="47">
                  <c:v>27.15999984741211</c:v>
                </c:pt>
                <c:pt idx="48">
                  <c:v>27.459999084472656</c:v>
                </c:pt>
                <c:pt idx="49">
                  <c:v>27.780000686645508</c:v>
                </c:pt>
                <c:pt idx="50">
                  <c:v>27.81999969482422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Saudi Arabian Oil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2222.SR  ·  Energy  ·  Oil &amp; Gas Integrated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18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OUTPERFORM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SAR 30.00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+7.8%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27.82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6.69T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5.66%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+8.4%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+8.2%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SAR 23.13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SAR 27.82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5495544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3775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SAR 27.82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Saudi Arabian Oil Company sits in the Energy sector (Oil &amp; Gas Integrated). The shares trade at a P/E around 15.0x trailing earnings. The macro and commodity backdrop is anchored by brent at 68  (-20.9% YoY); wti at 64  (-21.9% YoY). Macro context: local-economy GDP growth recently at 2.0%.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5.66%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Marketscreener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29.8% last quarter; 1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SAR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77518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52821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4261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4837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140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284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67268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50328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1768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59069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68334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59774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17.2x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4472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2484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628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527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3038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182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37862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29302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13972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117364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8804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15.0x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9x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21x</a:t>
            </a:r>
          </a:p>
        </p:txBody>
      </p:sp>
      <p:sp>
        <p:nvSpPr>
          <p:cNvPr id="49" name="Diamond 48"/>
          <p:cNvSpPr/>
          <p:nvPr/>
        </p:nvSpPr>
        <p:spPr>
          <a:xfrm>
            <a:off x="5089932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54524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(15.0x)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1208" y="8220456"/>
            <a:ext cx="1113535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34744" y="8220456"/>
            <a:ext cx="371178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05922" y="8220456"/>
            <a:ext cx="185589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66%   Hold 22%   Sell 11%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18 analysts covering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SAR 30.00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SAR 26 — 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+7.8% vs last close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Kepler Cheuvreux Raises Saudi Aramco's PT, Affirms Hold Rating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HSBC Lifts Saudi Aramco's PT, Affirms Hold Rating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Goldman Sachs Boosts Saudi Aramco's PT, Retains at Buy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