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6858000" cy="1217980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Close</c:v>
                </c:pt>
              </c:strCache>
            </c:strRef>
          </c:tx>
          <c:spPr>
            <a:ln w="19050">
              <a:solidFill>
                <a:srgbClr val="A28860"/>
              </a:solidFill>
            </a:ln>
          </c:spPr>
          <c:marker>
            <c:symbol val="none"/>
          </c:marker>
          <c:cat>
            <c:strRef>
              <c:f>Sheet1!$A$2:$A$51</c:f>
              <c:strCache>
                <c:ptCount val="50"/>
                <c:pt idx="0">
                  <c:v>05-13</c:v>
                </c:pt>
                <c:pt idx="1">
                  <c:v>05-20</c:v>
                </c:pt>
                <c:pt idx="2">
                  <c:v>05-27</c:v>
                </c:pt>
                <c:pt idx="3">
                  <c:v>06-03</c:v>
                </c:pt>
                <c:pt idx="4">
                  <c:v>06-10</c:v>
                </c:pt>
                <c:pt idx="5">
                  <c:v>06-17</c:v>
                </c:pt>
                <c:pt idx="6">
                  <c:v>06-24</c:v>
                </c:pt>
                <c:pt idx="7">
                  <c:v>07-01</c:v>
                </c:pt>
                <c:pt idx="8">
                  <c:v>07-08</c:v>
                </c:pt>
                <c:pt idx="9">
                  <c:v>07-15</c:v>
                </c:pt>
                <c:pt idx="10">
                  <c:v>07-22</c:v>
                </c:pt>
                <c:pt idx="11">
                  <c:v>07-29</c:v>
                </c:pt>
                <c:pt idx="12">
                  <c:v>08-05</c:v>
                </c:pt>
                <c:pt idx="13">
                  <c:v>08-12</c:v>
                </c:pt>
                <c:pt idx="14">
                  <c:v>08-20</c:v>
                </c:pt>
                <c:pt idx="15">
                  <c:v>08-28</c:v>
                </c:pt>
                <c:pt idx="16">
                  <c:v>09-04</c:v>
                </c:pt>
                <c:pt idx="17">
                  <c:v>09-11</c:v>
                </c:pt>
                <c:pt idx="18">
                  <c:v>09-18</c:v>
                </c:pt>
                <c:pt idx="19">
                  <c:v>09-25</c:v>
                </c:pt>
                <c:pt idx="20">
                  <c:v>10-03</c:v>
                </c:pt>
                <c:pt idx="21">
                  <c:v>10-10</c:v>
                </c:pt>
                <c:pt idx="22">
                  <c:v>10-17</c:v>
                </c:pt>
                <c:pt idx="23">
                  <c:v>10-27</c:v>
                </c:pt>
                <c:pt idx="24">
                  <c:v>11-03</c:v>
                </c:pt>
                <c:pt idx="25">
                  <c:v>11-11</c:v>
                </c:pt>
                <c:pt idx="26">
                  <c:v>11-18</c:v>
                </c:pt>
                <c:pt idx="27">
                  <c:v>11-25</c:v>
                </c:pt>
                <c:pt idx="28">
                  <c:v>12-02</c:v>
                </c:pt>
                <c:pt idx="29">
                  <c:v>12-09</c:v>
                </c:pt>
                <c:pt idx="30">
                  <c:v>12-16</c:v>
                </c:pt>
                <c:pt idx="31">
                  <c:v>12-23</c:v>
                </c:pt>
                <c:pt idx="32">
                  <c:v>12-31</c:v>
                </c:pt>
                <c:pt idx="33">
                  <c:v>01-07</c:v>
                </c:pt>
                <c:pt idx="34">
                  <c:v>01-14</c:v>
                </c:pt>
                <c:pt idx="35">
                  <c:v>01-22</c:v>
                </c:pt>
                <c:pt idx="36">
                  <c:v>01-30</c:v>
                </c:pt>
                <c:pt idx="37">
                  <c:v>02-06</c:v>
                </c:pt>
                <c:pt idx="38">
                  <c:v>02-13</c:v>
                </c:pt>
                <c:pt idx="39">
                  <c:v>02-20</c:v>
                </c:pt>
                <c:pt idx="40">
                  <c:v>02-27</c:v>
                </c:pt>
                <c:pt idx="41">
                  <c:v>03-09</c:v>
                </c:pt>
                <c:pt idx="42">
                  <c:v>03-16</c:v>
                </c:pt>
                <c:pt idx="43">
                  <c:v>03-23</c:v>
                </c:pt>
                <c:pt idx="44">
                  <c:v>04-01</c:v>
                </c:pt>
                <c:pt idx="45">
                  <c:v>04-09</c:v>
                </c:pt>
                <c:pt idx="46">
                  <c:v>04-17</c:v>
                </c:pt>
                <c:pt idx="47">
                  <c:v>04-24</c:v>
                </c:pt>
                <c:pt idx="48">
                  <c:v>05-04</c:v>
                </c:pt>
                <c:pt idx="49">
                  <c:v>05-11</c:v>
                </c:pt>
              </c:strCache>
            </c:strRef>
          </c:cat>
          <c:val>
            <c:numRef>
              <c:f>Sheet1!$B$2:$B$51</c:f>
              <c:numCache>
                <c:formatCode>General</c:formatCode>
                <c:ptCount val="50"/>
                <c:pt idx="0">
                  <c:v>1431.0999755859375</c:v>
                </c:pt>
                <c:pt idx="1">
                  <c:v>1437.550048828125</c:v>
                </c:pt>
                <c:pt idx="2">
                  <c:v>1447.050048828125</c:v>
                </c:pt>
                <c:pt idx="3">
                  <c:v>1438.0</c:v>
                </c:pt>
                <c:pt idx="4">
                  <c:v>1422.9000244140625</c:v>
                </c:pt>
                <c:pt idx="5">
                  <c:v>1423.050048828125</c:v>
                </c:pt>
                <c:pt idx="6">
                  <c:v>1423.9000244140625</c:v>
                </c:pt>
                <c:pt idx="7">
                  <c:v>1432.0</c:v>
                </c:pt>
                <c:pt idx="8">
                  <c:v>1442.1500244140625</c:v>
                </c:pt>
                <c:pt idx="9">
                  <c:v>1431.449951171875</c:v>
                </c:pt>
                <c:pt idx="10">
                  <c:v>1473.550048828125</c:v>
                </c:pt>
                <c:pt idx="11">
                  <c:v>1486.25</c:v>
                </c:pt>
                <c:pt idx="12">
                  <c:v>1444.300048828125</c:v>
                </c:pt>
                <c:pt idx="13">
                  <c:v>1422.0999755859375</c:v>
                </c:pt>
                <c:pt idx="14">
                  <c:v>1430.25</c:v>
                </c:pt>
                <c:pt idx="15">
                  <c:v>1398.800048828125</c:v>
                </c:pt>
                <c:pt idx="16">
                  <c:v>1405.6500244140625</c:v>
                </c:pt>
                <c:pt idx="17">
                  <c:v>1401.800048828125</c:v>
                </c:pt>
                <c:pt idx="18">
                  <c:v>1421.8499755859375</c:v>
                </c:pt>
                <c:pt idx="19">
                  <c:v>1375.5</c:v>
                </c:pt>
                <c:pt idx="20">
                  <c:v>1365.0</c:v>
                </c:pt>
                <c:pt idx="21">
                  <c:v>1380.6500244140625</c:v>
                </c:pt>
                <c:pt idx="22">
                  <c:v>1436.699951171875</c:v>
                </c:pt>
                <c:pt idx="23">
                  <c:v>1377.699951171875</c:v>
                </c:pt>
                <c:pt idx="24">
                  <c:v>1345.5999755859375</c:v>
                </c:pt>
                <c:pt idx="25">
                  <c:v>1358.4000244140625</c:v>
                </c:pt>
                <c:pt idx="26">
                  <c:v>1371.9000244140625</c:v>
                </c:pt>
                <c:pt idx="27">
                  <c:v>1358.050048828125</c:v>
                </c:pt>
                <c:pt idx="28">
                  <c:v>1372.6500244140625</c:v>
                </c:pt>
                <c:pt idx="29">
                  <c:v>1374.9000244140625</c:v>
                </c:pt>
                <c:pt idx="30">
                  <c:v>1366.0</c:v>
                </c:pt>
                <c:pt idx="31">
                  <c:v>1363.050048828125</c:v>
                </c:pt>
                <c:pt idx="32">
                  <c:v>1342.9000244140625</c:v>
                </c:pt>
                <c:pt idx="33">
                  <c:v>1428.449951171875</c:v>
                </c:pt>
                <c:pt idx="34">
                  <c:v>1418.1500244140625</c:v>
                </c:pt>
                <c:pt idx="35">
                  <c:v>1345.6500244140625</c:v>
                </c:pt>
                <c:pt idx="36">
                  <c:v>1355.050048828125</c:v>
                </c:pt>
                <c:pt idx="37">
                  <c:v>1406.6500244140625</c:v>
                </c:pt>
                <c:pt idx="38">
                  <c:v>1414.3499755859375</c:v>
                </c:pt>
                <c:pt idx="39">
                  <c:v>1393.550048828125</c:v>
                </c:pt>
                <c:pt idx="40">
                  <c:v>1379.0</c:v>
                </c:pt>
                <c:pt idx="41">
                  <c:v>1277.4000244140625</c:v>
                </c:pt>
                <c:pt idx="42">
                  <c:v>1273.0</c:v>
                </c:pt>
                <c:pt idx="43">
                  <c:v>1222.6500244140625</c:v>
                </c:pt>
                <c:pt idx="44">
                  <c:v>1212.550048828125</c:v>
                </c:pt>
                <c:pt idx="45">
                  <c:v>1280.75</c:v>
                </c:pt>
                <c:pt idx="46">
                  <c:v>1347.5</c:v>
                </c:pt>
                <c:pt idx="47">
                  <c:v>1326.300048828125</c:v>
                </c:pt>
                <c:pt idx="48">
                  <c:v>1270.949951171875</c:v>
                </c:pt>
                <c:pt idx="49">
                  <c:v>1266.1500244140625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00">
                <a:solidFill>
                  <a:srgbClr val="9A9A9A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00">
                <a:solidFill>
                  <a:srgbClr val="9A9A9A"/>
                </a:solidFill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1  · 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9875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EARNINGS PREVIEW 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80160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Georgia"/>
              </a:rPr>
              <a:t>ICICI Bank Limited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019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ICICIBANK.BO  ·  Financials  ·  Banks—Diversified  · 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57984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Earnings Preview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7066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7980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CONSENSUS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RATING  ·  40 ANALYSTS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BUY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6688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56688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21280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TARGET 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21280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INR 1,669.80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01896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01896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6487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UPSIDE TO TARGET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6487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F7D4F"/>
                </a:solidFill>
                <a:latin typeface="Calibri"/>
              </a:rPr>
              <a:t>+35.2%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0050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4096511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LAST CLOSE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INR 1,235.10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1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MARKET CAP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INR 8.89T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REPORT 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TBA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P/E (FY EST)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2900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13.6x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DIV. YIELD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1.24%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067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CURRENCY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7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INR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495604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04748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RECENT PERFORMANCE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DAY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3227"/>
                </a:solidFill>
                <a:latin typeface="Calibri"/>
              </a:rPr>
              <a:t>-0.4%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WEEK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1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3227"/>
                </a:solidFill>
                <a:latin typeface="Calibri"/>
              </a:rPr>
              <a:t>-3.5%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2316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MONTH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2316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3227"/>
                </a:solidFill>
                <a:latin typeface="Calibri"/>
              </a:rPr>
              <a:t>-6.6%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2900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3 MONTHS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2900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3227"/>
                </a:solidFill>
                <a:latin typeface="Calibri"/>
              </a:rPr>
              <a:t>-11.5%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3484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6 MONTHS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3484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3227"/>
                </a:solidFill>
                <a:latin typeface="Calibri"/>
              </a:rPr>
              <a:t>-7.6%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067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YTD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067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B83227"/>
                </a:solidFill>
                <a:latin typeface="Calibri"/>
              </a:rPr>
              <a:t>-7.7%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5907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" y="59984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52-WEEK RANGE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INR 1,205.20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3559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5C5C"/>
                </a:solidFill>
                <a:latin typeface="Calibri"/>
              </a:rPr>
              <a:t>INR 1,488.65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80160" y="6400799"/>
            <a:ext cx="4297679" cy="54864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280160" y="6400799"/>
            <a:ext cx="453345" cy="5486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Diamond 58"/>
          <p:cNvSpPr/>
          <p:nvPr/>
        </p:nvSpPr>
        <p:spPr>
          <a:xfrm>
            <a:off x="1651209" y="6345936"/>
            <a:ext cx="164592" cy="164592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93425" y="656539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1A1A1A"/>
                </a:solidFill>
                <a:latin typeface="Calibri"/>
              </a:rPr>
              <a:t>Current  INR 1,235.10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" y="696772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1480" y="705916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HIGHLIGHTS  ·  KEY POINTS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EARNINGS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07592" y="7406640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Awaiting next print; consensus updates trickling in.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VALUATION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07592" y="7790688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Multiple sits in mid-range vs. 5-year history.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POSITIONING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307592" y="8174736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in line with sector peers.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WATCH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07592" y="8558784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Management commentary on forward demand is key.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RISK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307592" y="8942832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and feedstock-cost volatility remain top risks.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marketscreener, yahoo  |  Generated 13 May 2026  |  Analyst: Jabal Research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1 /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2  ·  THESIS &amp; EXPECTATIONS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INVESTMENT 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Executive Summary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792224"/>
            <a:ext cx="6035040" cy="1691640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792224"/>
            <a:ext cx="45720" cy="169164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83664"/>
            <a:ext cx="5742431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Jabal maintains a constructive view into the upcoming print. ICICI Bank Limited sits in the Financials sector (Banks—Diversified). Street consensus is buy (40 analysts covering); consensus target 1669.80. The shares trade at a P/E around 13.6x trailing earnings. Macro context: local-economy GDP growth recently at 6.5%. The thesis hinges on three factors: demand trajectory through H2, feedstock/input-cost discipline, and management's tone on guidance during the call. We expect the print itself to be within consensus bounds; the read on forward commentary is the swing factor.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621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712463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Q2 2026 EARNINGS EXPECTATIONS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89534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Jabal estimates vs. consensus  ·  Local currency unless stated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0965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METRIC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JABAL EST.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CONSENSUS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Δ VS CONSENSUS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4096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YOY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5254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37083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— Next 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19.350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3560" y="437083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62686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464515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— Next 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4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464515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491947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(FY est.)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8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69.725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491947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17550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519379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(FY est.)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0604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1188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1.20T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1772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19379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54681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(FY+1 est.)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4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79.415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1772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560" y="54681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1480" y="572414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574243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(FY+1)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606040" y="57424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11880" y="57424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1.36T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17720" y="57424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574243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01675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(TTM)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606040" y="60167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11880" y="60167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1.24%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17720" y="60167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23560" y="601675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" y="6291072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Consensus: Yahoo  ·  40 analysts covering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1480" y="6748272"/>
            <a:ext cx="45720" cy="178308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7607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CATALYSTS</a:t>
            </a:r>
          </a:p>
        </p:txBody>
      </p:sp>
      <p:sp>
        <p:nvSpPr>
          <p:cNvPr id="64" name="Oval 63"/>
          <p:cNvSpPr/>
          <p:nvPr/>
        </p:nvSpPr>
        <p:spPr>
          <a:xfrm>
            <a:off x="594360" y="7223759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9552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beat consensus by 6.4% last quarter; 3 of last 4 quarters above estimates</a:t>
            </a:r>
          </a:p>
        </p:txBody>
      </p:sp>
      <p:sp>
        <p:nvSpPr>
          <p:cNvPr id="66" name="Oval 65"/>
          <p:cNvSpPr/>
          <p:nvPr/>
        </p:nvSpPr>
        <p:spPr>
          <a:xfrm>
            <a:off x="594360" y="7644383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552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Constructive guidance on H2 demand and pricing outlook</a:t>
            </a:r>
          </a:p>
        </p:txBody>
      </p:sp>
      <p:sp>
        <p:nvSpPr>
          <p:cNvPr id="68" name="Oval 67"/>
          <p:cNvSpPr/>
          <p:nvPr/>
        </p:nvSpPr>
        <p:spPr>
          <a:xfrm>
            <a:off x="594360" y="8065008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9552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Capex/project milestones tracking on schedule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52044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520440" y="6748272"/>
            <a:ext cx="45720" cy="1783080"/>
          </a:xfrm>
          <a:prstGeom prst="rect">
            <a:avLst/>
          </a:prstGeom>
          <a:solidFill>
            <a:srgbClr val="B83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8503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RISKS</a:t>
            </a:r>
          </a:p>
        </p:txBody>
      </p:sp>
      <p:sp>
        <p:nvSpPr>
          <p:cNvPr id="73" name="Oval 72"/>
          <p:cNvSpPr/>
          <p:nvPr/>
        </p:nvSpPr>
        <p:spPr>
          <a:xfrm>
            <a:off x="3703320" y="7223759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90448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Cautious management tone could validate target-price gap</a:t>
            </a:r>
          </a:p>
        </p:txBody>
      </p:sp>
      <p:sp>
        <p:nvSpPr>
          <p:cNvPr id="75" name="Oval 74"/>
          <p:cNvSpPr/>
          <p:nvPr/>
        </p:nvSpPr>
        <p:spPr>
          <a:xfrm>
            <a:off x="3703320" y="7644383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90448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/ input cost volatility pressures margin trajectory</a:t>
            </a:r>
          </a:p>
        </p:txBody>
      </p:sp>
      <p:sp>
        <p:nvSpPr>
          <p:cNvPr id="77" name="Oval 76"/>
          <p:cNvSpPr/>
          <p:nvPr/>
        </p:nvSpPr>
        <p:spPr>
          <a:xfrm>
            <a:off x="3703320" y="8065008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90448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/ commodity-price softness weighs on top-line growth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11480" y="871423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11480" y="880567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WHAT TO WATCH ON THE PRINT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11480" y="8970264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85800" y="8970264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Forward demand commentary — Q3 order book and pricing trajectory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1480" y="9217152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85800" y="9217152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cost outlook and supply-chain commentary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11480" y="9464040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5800" y="9464040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Updated capex schedule and any project-pipeline updates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marketscreener, yahoo  |  Generated 13 May 2026  |  Analyst: Jabal Research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2 / 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3  ·  VALUATION &amp; 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POSITIONING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Valuation &amp; Market 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52-WEEK PRICE  ·  INR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2029967"/>
          <a:ext cx="2926079" cy="1920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52044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P/E MULTIPLE  ·  5-YEAR 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06654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2121408"/>
            <a:ext cx="1837518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15158" y="210312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06598" y="208483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24.6x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34086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0" y="2395727"/>
            <a:ext cx="1502693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480333" y="237743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71773" y="235915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22.1x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61518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2670048"/>
            <a:ext cx="1154475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132115" y="265176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23555" y="263347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19.5x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288950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360" y="2944368"/>
            <a:ext cx="1100903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078543" y="292607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69983" y="290779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19.1x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316382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23360" y="3218688"/>
            <a:ext cx="1288405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266045" y="320040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57485" y="318211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20.5x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0440" y="343814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360" y="3493008"/>
            <a:ext cx="873223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850863" y="347472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42303" y="345643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17.4x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0440" y="371246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23360" y="3767327"/>
            <a:ext cx="645542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623182" y="374903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14622" y="373075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15.7x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0440" y="398678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360" y="4041647"/>
            <a:ext cx="364289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341929" y="402335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33369" y="400507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13.6x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8620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11x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6344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17x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40679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22x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28x</a:t>
            </a:r>
          </a:p>
        </p:txBody>
      </p:sp>
      <p:sp>
        <p:nvSpPr>
          <p:cNvPr id="49" name="Diamond 48"/>
          <p:cNvSpPr/>
          <p:nvPr/>
        </p:nvSpPr>
        <p:spPr>
          <a:xfrm>
            <a:off x="4314497" y="4242816"/>
            <a:ext cx="146304" cy="146304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79089" y="4224528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Calibri"/>
              </a:rPr>
              <a:t>Current  (13.6x)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" y="4544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4636007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PEER COMPARABLES  ·  SELECTED GLOBAL PEERS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1480" y="4837176"/>
            <a:ext cx="1874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COMPANY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3172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TICKER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MCAP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43400" y="4837176"/>
            <a:ext cx="5943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P/E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8348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DIV YIELD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1500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1Y RETURN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507492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5093208"/>
            <a:ext cx="1874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iShares MSCI India ETF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31720" y="5093208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INDA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37560" y="5093208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$6.7B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43400" y="5093208"/>
            <a:ext cx="5943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83480" y="509320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+2.5% YTD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715000" y="509320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B83227"/>
                </a:solidFill>
                <a:latin typeface="Calibri"/>
              </a:rPr>
              <a:t>-10.7%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763524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7726679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SENTIMENT  ·  ANALYST CONSENSUS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1148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120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CONSENSUS DISTRIBUTION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21208" y="8220456"/>
            <a:ext cx="1586788" cy="146304"/>
          </a:xfrm>
          <a:prstGeom prst="rect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107996" y="8220456"/>
            <a:ext cx="83515" cy="14630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21208" y="8421624"/>
            <a:ext cx="167030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Buy 95%   Hold 5%   Sell 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8" y="8641080"/>
            <a:ext cx="16703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40 analysts covering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48412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48412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59384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AVERAGE TARGET PRICE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93848" y="8202168"/>
            <a:ext cx="1706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Calibri"/>
              </a:rPr>
              <a:t>INR 1,669.80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593848" y="8586216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Range  INR 1,500 — 1,860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593848" y="8750808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7D4F"/>
                </a:solidFill>
                <a:latin typeface="Calibri"/>
              </a:rPr>
              <a:t>Implied +35.2% vs last close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55676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55676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66648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LAST BROKER ACTIONS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66488" y="8220456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Apr. 20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96840" y="8220456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Nomura Adjusts ICICI Bank's Price Target to INR1,620 From INR1,535, Keeps at Buy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666488" y="8458200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Mar. 24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196840" y="8458200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Nomura Adjusts ICICI Bank's Price Target to INR1,535 From INR1,735, Keeps at Buy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666488" y="869594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Jan. 19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196840" y="8695944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Avendus Spark Upgrades ICICI Bank to Buy from Add; Price Target is INR1,627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marketscreener, yahoo  |  Generated 13 May 2026  |  Analyst: Jabal Research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3 / 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