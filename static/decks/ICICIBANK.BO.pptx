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05-13</c:v>
                </c:pt>
                <c:pt idx="1">
                  <c:v>05-20</c:v>
                </c:pt>
                <c:pt idx="2">
                  <c:v>05-27</c:v>
                </c:pt>
                <c:pt idx="3">
                  <c:v>06-03</c:v>
                </c:pt>
                <c:pt idx="4">
                  <c:v>06-10</c:v>
                </c:pt>
                <c:pt idx="5">
                  <c:v>06-17</c:v>
                </c:pt>
                <c:pt idx="6">
                  <c:v>06-24</c:v>
                </c:pt>
                <c:pt idx="7">
                  <c:v>07-01</c:v>
                </c:pt>
                <c:pt idx="8">
                  <c:v>07-08</c:v>
                </c:pt>
                <c:pt idx="9">
                  <c:v>07-15</c:v>
                </c:pt>
                <c:pt idx="10">
                  <c:v>07-22</c:v>
                </c:pt>
                <c:pt idx="11">
                  <c:v>07-29</c:v>
                </c:pt>
                <c:pt idx="12">
                  <c:v>08-05</c:v>
                </c:pt>
                <c:pt idx="13">
                  <c:v>08-12</c:v>
                </c:pt>
                <c:pt idx="14">
                  <c:v>08-20</c:v>
                </c:pt>
                <c:pt idx="15">
                  <c:v>08-28</c:v>
                </c:pt>
                <c:pt idx="16">
                  <c:v>09-04</c:v>
                </c:pt>
                <c:pt idx="17">
                  <c:v>09-11</c:v>
                </c:pt>
                <c:pt idx="18">
                  <c:v>09-18</c:v>
                </c:pt>
                <c:pt idx="19">
                  <c:v>09-25</c:v>
                </c:pt>
                <c:pt idx="20">
                  <c:v>10-03</c:v>
                </c:pt>
                <c:pt idx="21">
                  <c:v>10-10</c:v>
                </c:pt>
                <c:pt idx="22">
                  <c:v>10-17</c:v>
                </c:pt>
                <c:pt idx="23">
                  <c:v>10-27</c:v>
                </c:pt>
                <c:pt idx="24">
                  <c:v>11-03</c:v>
                </c:pt>
                <c:pt idx="25">
                  <c:v>11-11</c:v>
                </c:pt>
                <c:pt idx="26">
                  <c:v>11-18</c:v>
                </c:pt>
                <c:pt idx="27">
                  <c:v>11-25</c:v>
                </c:pt>
                <c:pt idx="28">
                  <c:v>12-02</c:v>
                </c:pt>
                <c:pt idx="29">
                  <c:v>12-09</c:v>
                </c:pt>
                <c:pt idx="30">
                  <c:v>12-16</c:v>
                </c:pt>
                <c:pt idx="31">
                  <c:v>12-23</c:v>
                </c:pt>
                <c:pt idx="32">
                  <c:v>12-31</c:v>
                </c:pt>
                <c:pt idx="33">
                  <c:v>01-07</c:v>
                </c:pt>
                <c:pt idx="34">
                  <c:v>01-14</c:v>
                </c:pt>
                <c:pt idx="35">
                  <c:v>01-22</c:v>
                </c:pt>
                <c:pt idx="36">
                  <c:v>01-30</c:v>
                </c:pt>
                <c:pt idx="37">
                  <c:v>02-06</c:v>
                </c:pt>
                <c:pt idx="38">
                  <c:v>02-13</c:v>
                </c:pt>
                <c:pt idx="39">
                  <c:v>02-20</c:v>
                </c:pt>
                <c:pt idx="40">
                  <c:v>02-27</c:v>
                </c:pt>
                <c:pt idx="41">
                  <c:v>03-09</c:v>
                </c:pt>
                <c:pt idx="42">
                  <c:v>03-16</c:v>
                </c:pt>
                <c:pt idx="43">
                  <c:v>03-23</c:v>
                </c:pt>
                <c:pt idx="44">
                  <c:v>04-01</c:v>
                </c:pt>
                <c:pt idx="45">
                  <c:v>04-09</c:v>
                </c:pt>
                <c:pt idx="46">
                  <c:v>04-17</c:v>
                </c:pt>
                <c:pt idx="47">
                  <c:v>04-24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1431.0999755859375</c:v>
                </c:pt>
                <c:pt idx="1">
                  <c:v>1437.550048828125</c:v>
                </c:pt>
                <c:pt idx="2">
                  <c:v>1447.050048828125</c:v>
                </c:pt>
                <c:pt idx="3">
                  <c:v>1438.0</c:v>
                </c:pt>
                <c:pt idx="4">
                  <c:v>1422.9000244140625</c:v>
                </c:pt>
                <c:pt idx="5">
                  <c:v>1423.050048828125</c:v>
                </c:pt>
                <c:pt idx="6">
                  <c:v>1423.9000244140625</c:v>
                </c:pt>
                <c:pt idx="7">
                  <c:v>1432.0</c:v>
                </c:pt>
                <c:pt idx="8">
                  <c:v>1442.1500244140625</c:v>
                </c:pt>
                <c:pt idx="9">
                  <c:v>1431.449951171875</c:v>
                </c:pt>
                <c:pt idx="10">
                  <c:v>1473.550048828125</c:v>
                </c:pt>
                <c:pt idx="11">
                  <c:v>1486.25</c:v>
                </c:pt>
                <c:pt idx="12">
                  <c:v>1444.300048828125</c:v>
                </c:pt>
                <c:pt idx="13">
                  <c:v>1422.0999755859375</c:v>
                </c:pt>
                <c:pt idx="14">
                  <c:v>1430.25</c:v>
                </c:pt>
                <c:pt idx="15">
                  <c:v>1398.800048828125</c:v>
                </c:pt>
                <c:pt idx="16">
                  <c:v>1405.6500244140625</c:v>
                </c:pt>
                <c:pt idx="17">
                  <c:v>1401.800048828125</c:v>
                </c:pt>
                <c:pt idx="18">
                  <c:v>1421.8499755859375</c:v>
                </c:pt>
                <c:pt idx="19">
                  <c:v>1375.5</c:v>
                </c:pt>
                <c:pt idx="20">
                  <c:v>1365.0</c:v>
                </c:pt>
                <c:pt idx="21">
                  <c:v>1380.6500244140625</c:v>
                </c:pt>
                <c:pt idx="22">
                  <c:v>1436.699951171875</c:v>
                </c:pt>
                <c:pt idx="23">
                  <c:v>1377.699951171875</c:v>
                </c:pt>
                <c:pt idx="24">
                  <c:v>1345.5999755859375</c:v>
                </c:pt>
                <c:pt idx="25">
                  <c:v>1358.4000244140625</c:v>
                </c:pt>
                <c:pt idx="26">
                  <c:v>1371.9000244140625</c:v>
                </c:pt>
                <c:pt idx="27">
                  <c:v>1358.050048828125</c:v>
                </c:pt>
                <c:pt idx="28">
                  <c:v>1372.6500244140625</c:v>
                </c:pt>
                <c:pt idx="29">
                  <c:v>1374.9000244140625</c:v>
                </c:pt>
                <c:pt idx="30">
                  <c:v>1366.0</c:v>
                </c:pt>
                <c:pt idx="31">
                  <c:v>1363.050048828125</c:v>
                </c:pt>
                <c:pt idx="32">
                  <c:v>1342.9000244140625</c:v>
                </c:pt>
                <c:pt idx="33">
                  <c:v>1428.449951171875</c:v>
                </c:pt>
                <c:pt idx="34">
                  <c:v>1418.1500244140625</c:v>
                </c:pt>
                <c:pt idx="35">
                  <c:v>1345.6500244140625</c:v>
                </c:pt>
                <c:pt idx="36">
                  <c:v>1355.050048828125</c:v>
                </c:pt>
                <c:pt idx="37">
                  <c:v>1406.6500244140625</c:v>
                </c:pt>
                <c:pt idx="38">
                  <c:v>1414.3499755859375</c:v>
                </c:pt>
                <c:pt idx="39">
                  <c:v>1393.550048828125</c:v>
                </c:pt>
                <c:pt idx="40">
                  <c:v>1379.0</c:v>
                </c:pt>
                <c:pt idx="41">
                  <c:v>1277.4000244140625</c:v>
                </c:pt>
                <c:pt idx="42">
                  <c:v>1273.0</c:v>
                </c:pt>
                <c:pt idx="43">
                  <c:v>1222.6500244140625</c:v>
                </c:pt>
                <c:pt idx="44">
                  <c:v>1212.550048828125</c:v>
                </c:pt>
                <c:pt idx="45">
                  <c:v>1280.75</c:v>
                </c:pt>
                <c:pt idx="46">
                  <c:v>1347.5</c:v>
                </c:pt>
                <c:pt idx="47">
                  <c:v>1326.300048828125</c:v>
                </c:pt>
                <c:pt idx="48">
                  <c:v>1270.949951171875</c:v>
                </c:pt>
                <c:pt idx="49">
                  <c:v>1266.1500244140625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ICICI Bank Limited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ICICIBANK.BO  ·  Financials  ·  Banks—Diversified  · 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40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INR 1,669.80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+35.2%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 1,235.10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 8.89T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 EST)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13.6x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1.24%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INR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-0.4%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-3.5%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-6.6%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-11.5%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-7.6%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B83227"/>
                </a:solidFill>
                <a:latin typeface="Calibri"/>
              </a:rPr>
              <a:t>-7.7%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INR 1,205.20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INR 1,488.65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453345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1651209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93425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INR 1,235.10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Awaiting next print; consensus updates trickling in.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Multiple sits in mid-range vs. 5-year history.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in line with sector peers.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Management commentary on forward demand is key.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and feedstock-cost volatility remain top risks.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ICICI Bank Limited sits in the Financials sector (Banks—Diversified). Street consensus is buy (40 analysts covering); consensus target 1669.80. The shares trade at a P/E around 13.6x trailing earnings. Macro context: local-economy GDP growth recently at 6.5%.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Local currency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JABAL 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Δ VS CONSENSUS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40965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— Next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19.350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23560" y="43708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— Next Q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6451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 est.)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0604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69.725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23560" y="491947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 est.)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1.20T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19379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(FY+1 est.)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0604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1188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79.415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546811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572414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7424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(FY+1)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06040" y="57424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11880" y="57424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1.36T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57424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23560" y="574243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01675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(TTM)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06040" y="60167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11880" y="60167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1.24%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17720" y="60167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23560" y="6016752"/>
            <a:ext cx="777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Consensus: Yahoo  ·  40 analysts covering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64" name="Oval 63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beat consensus by 6.4% last quarter; 3 of last 4 quarters above estimates</a:t>
            </a:r>
          </a:p>
        </p:txBody>
      </p:sp>
      <p:sp>
        <p:nvSpPr>
          <p:cNvPr id="66" name="Oval 65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68" name="Oval 67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73" name="Oval 72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75" name="Oval 74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77" name="Oval 76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INR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837518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815158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6598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24.6x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3408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2395727"/>
            <a:ext cx="150269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0333" y="23774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1773" y="23591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22.1x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61518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0" y="2670048"/>
            <a:ext cx="115447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32115" y="265176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23555" y="263347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19.5x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88950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2944368"/>
            <a:ext cx="110090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78543" y="292607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9983" y="29077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19.1x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16382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3218688"/>
            <a:ext cx="1288405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66045" y="320040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7485" y="3182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20.5x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381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23360" y="3493008"/>
            <a:ext cx="873223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50863" y="34747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42303" y="345643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17.4x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20440" y="371246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0" y="3767327"/>
            <a:ext cx="645542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623182" y="374903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14622" y="373075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15.7x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398678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4041647"/>
            <a:ext cx="364289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41929" y="4023359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33369" y="400507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13.6x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8620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11x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6344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17x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40679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22x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4297680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28x</a:t>
            </a:r>
          </a:p>
        </p:txBody>
      </p:sp>
      <p:sp>
        <p:nvSpPr>
          <p:cNvPr id="49" name="Diamond 48"/>
          <p:cNvSpPr/>
          <p:nvPr/>
        </p:nvSpPr>
        <p:spPr>
          <a:xfrm>
            <a:off x="4314497" y="4242816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79089" y="4224528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(13.6x)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SELECTED GLOBAL PEERS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5093208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iShares MSCI India ETF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3172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INDA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37560" y="5093208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$6.7B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43400" y="5093208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+2.5% YTD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5093208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B83227"/>
                </a:solidFill>
                <a:latin typeface="Calibri"/>
              </a:rPr>
              <a:t>-10.7%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21208" y="8220456"/>
            <a:ext cx="1586788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07996" y="8220456"/>
            <a:ext cx="83515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95%   Hold 5%   Sell 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40 analysts covering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INR 1,669.80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INR 1,500 — 1,860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+35.2% vs last close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Apr. 20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ICICI Bank's Price Target to INR1,620 From INR1,535, Keeps at Buy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Mar. 24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Nomura Adjusts ICICI Bank's Price Target to INR1,535 From INR1,735, Keeps at Buy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Jan. 19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Avendus Spark Upgrades ICICI Bank to Buy from Add; Price Target is INR1,627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investing, marketscreener, yahoo  |  Generated 14 May 2026  |  Analyst: Jabal Research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