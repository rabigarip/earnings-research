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6858000" cy="1217980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Close</c:v>
                </c:pt>
              </c:strCache>
            </c:strRef>
          </c:tx>
          <c:spPr>
            <a:ln w="19050">
              <a:solidFill>
                <a:srgbClr val="A28860"/>
              </a:solidFill>
            </a:ln>
          </c:spPr>
          <c:marker>
            <c:symbol val="none"/>
          </c:marker>
          <c:cat>
            <c:strRef>
              <c:f>Sheet1!$A$2:$A$51</c:f>
              <c:strCache>
                <c:ptCount val="50"/>
                <c:pt idx="0">
                  <c:v>05-13</c:v>
                </c:pt>
                <c:pt idx="1">
                  <c:v>05-20</c:v>
                </c:pt>
                <c:pt idx="2">
                  <c:v>05-27</c:v>
                </c:pt>
                <c:pt idx="3">
                  <c:v>06-03</c:v>
                </c:pt>
                <c:pt idx="4">
                  <c:v>06-10</c:v>
                </c:pt>
                <c:pt idx="5">
                  <c:v>06-17</c:v>
                </c:pt>
                <c:pt idx="6">
                  <c:v>06-24</c:v>
                </c:pt>
                <c:pt idx="7">
                  <c:v>07-01</c:v>
                </c:pt>
                <c:pt idx="8">
                  <c:v>07-08</c:v>
                </c:pt>
                <c:pt idx="9">
                  <c:v>07-15</c:v>
                </c:pt>
                <c:pt idx="10">
                  <c:v>07-22</c:v>
                </c:pt>
                <c:pt idx="11">
                  <c:v>07-29</c:v>
                </c:pt>
                <c:pt idx="12">
                  <c:v>08-05</c:v>
                </c:pt>
                <c:pt idx="13">
                  <c:v>08-12</c:v>
                </c:pt>
                <c:pt idx="14">
                  <c:v>08-20</c:v>
                </c:pt>
                <c:pt idx="15">
                  <c:v>08-28</c:v>
                </c:pt>
                <c:pt idx="16">
                  <c:v>09-04</c:v>
                </c:pt>
                <c:pt idx="17">
                  <c:v>09-11</c:v>
                </c:pt>
                <c:pt idx="18">
                  <c:v>09-18</c:v>
                </c:pt>
                <c:pt idx="19">
                  <c:v>09-25</c:v>
                </c:pt>
                <c:pt idx="20">
                  <c:v>10-03</c:v>
                </c:pt>
                <c:pt idx="21">
                  <c:v>10-10</c:v>
                </c:pt>
                <c:pt idx="22">
                  <c:v>10-17</c:v>
                </c:pt>
                <c:pt idx="23">
                  <c:v>10-27</c:v>
                </c:pt>
                <c:pt idx="24">
                  <c:v>11-03</c:v>
                </c:pt>
                <c:pt idx="25">
                  <c:v>11-11</c:v>
                </c:pt>
                <c:pt idx="26">
                  <c:v>11-18</c:v>
                </c:pt>
                <c:pt idx="27">
                  <c:v>11-25</c:v>
                </c:pt>
                <c:pt idx="28">
                  <c:v>12-02</c:v>
                </c:pt>
                <c:pt idx="29">
                  <c:v>12-09</c:v>
                </c:pt>
                <c:pt idx="30">
                  <c:v>12-16</c:v>
                </c:pt>
                <c:pt idx="31">
                  <c:v>12-23</c:v>
                </c:pt>
                <c:pt idx="32">
                  <c:v>12-31</c:v>
                </c:pt>
                <c:pt idx="33">
                  <c:v>01-07</c:v>
                </c:pt>
                <c:pt idx="34">
                  <c:v>01-14</c:v>
                </c:pt>
                <c:pt idx="35">
                  <c:v>01-21</c:v>
                </c:pt>
                <c:pt idx="36">
                  <c:v>01-29</c:v>
                </c:pt>
                <c:pt idx="37">
                  <c:v>02-05</c:v>
                </c:pt>
                <c:pt idx="38">
                  <c:v>02-12</c:v>
                </c:pt>
                <c:pt idx="39">
                  <c:v>02-19</c:v>
                </c:pt>
                <c:pt idx="40">
                  <c:v>02-26</c:v>
                </c:pt>
                <c:pt idx="41">
                  <c:v>03-06</c:v>
                </c:pt>
                <c:pt idx="42">
                  <c:v>03-13</c:v>
                </c:pt>
                <c:pt idx="43">
                  <c:v>03-20</c:v>
                </c:pt>
                <c:pt idx="44">
                  <c:v>03-30</c:v>
                </c:pt>
                <c:pt idx="45">
                  <c:v>04-08</c:v>
                </c:pt>
                <c:pt idx="46">
                  <c:v>04-16</c:v>
                </c:pt>
                <c:pt idx="47">
                  <c:v>04-23</c:v>
                </c:pt>
                <c:pt idx="48">
                  <c:v>04-30</c:v>
                </c:pt>
                <c:pt idx="49">
                  <c:v>05-07</c:v>
                </c:pt>
              </c:strCache>
            </c:strRef>
          </c:cat>
          <c:val>
            <c:numRef>
              <c:f>Sheet1!$B$2:$B$51</c:f>
              <c:numCache>
                <c:formatCode>General</c:formatCode>
                <c:ptCount val="50"/>
                <c:pt idx="0">
                  <c:v>909.7000122070312</c:v>
                </c:pt>
                <c:pt idx="1">
                  <c:v>957.5999755859375</c:v>
                </c:pt>
                <c:pt idx="2">
                  <c:v>947.5</c:v>
                </c:pt>
                <c:pt idx="3">
                  <c:v>946.4000244140625</c:v>
                </c:pt>
                <c:pt idx="4">
                  <c:v>973.7000122070312</c:v>
                </c:pt>
                <c:pt idx="5">
                  <c:v>891.0</c:v>
                </c:pt>
                <c:pt idx="6">
                  <c:v>924.2000122070312</c:v>
                </c:pt>
                <c:pt idx="7">
                  <c:v>951.25</c:v>
                </c:pt>
                <c:pt idx="8">
                  <c:v>951.0999755859375</c:v>
                </c:pt>
                <c:pt idx="9">
                  <c:v>943.8499755859375</c:v>
                </c:pt>
                <c:pt idx="10">
                  <c:v>965.0</c:v>
                </c:pt>
                <c:pt idx="11">
                  <c:v>984.3499755859375</c:v>
                </c:pt>
                <c:pt idx="12">
                  <c:v>999.7999877929688</c:v>
                </c:pt>
                <c:pt idx="13">
                  <c:v>998.5</c:v>
                </c:pt>
                <c:pt idx="14">
                  <c:v>1016.25</c:v>
                </c:pt>
                <c:pt idx="15">
                  <c:v>964.7000122070312</c:v>
                </c:pt>
                <c:pt idx="16">
                  <c:v>1031.8499755859375</c:v>
                </c:pt>
                <c:pt idx="17">
                  <c:v>1040.4000244140625</c:v>
                </c:pt>
                <c:pt idx="18">
                  <c:v>1047.6500244140625</c:v>
                </c:pt>
                <c:pt idx="19">
                  <c:v>1051.699951171875</c:v>
                </c:pt>
                <c:pt idx="20">
                  <c:v>1076.5</c:v>
                </c:pt>
                <c:pt idx="21">
                  <c:v>1015.2000122070312</c:v>
                </c:pt>
                <c:pt idx="22">
                  <c:v>1007.5999755859375</c:v>
                </c:pt>
                <c:pt idx="23">
                  <c:v>1034.300048828125</c:v>
                </c:pt>
                <c:pt idx="24">
                  <c:v>1077.0</c:v>
                </c:pt>
                <c:pt idx="25">
                  <c:v>1080.199951171875</c:v>
                </c:pt>
                <c:pt idx="26">
                  <c:v>1066.300048828125</c:v>
                </c:pt>
                <c:pt idx="27">
                  <c:v>1022.5999755859375</c:v>
                </c:pt>
                <c:pt idx="28">
                  <c:v>1028.800048828125</c:v>
                </c:pt>
                <c:pt idx="29">
                  <c:v>1002.7999877929688</c:v>
                </c:pt>
                <c:pt idx="30">
                  <c:v>1011.2000122070312</c:v>
                </c:pt>
                <c:pt idx="31">
                  <c:v>1012.5999755859375</c:v>
                </c:pt>
                <c:pt idx="32">
                  <c:v>1053.800048828125</c:v>
                </c:pt>
                <c:pt idx="33">
                  <c:v>1074.699951171875</c:v>
                </c:pt>
                <c:pt idx="34">
                  <c:v>1040.699951171875</c:v>
                </c:pt>
                <c:pt idx="35">
                  <c:v>1041.4000244140625</c:v>
                </c:pt>
                <c:pt idx="36">
                  <c:v>1159.5999755859375</c:v>
                </c:pt>
                <c:pt idx="37">
                  <c:v>1178.0</c:v>
                </c:pt>
                <c:pt idx="38">
                  <c:v>1203.4000244140625</c:v>
                </c:pt>
                <c:pt idx="39">
                  <c:v>1211.0999755859375</c:v>
                </c:pt>
                <c:pt idx="40">
                  <c:v>1261.0</c:v>
                </c:pt>
                <c:pt idx="41">
                  <c:v>1180.4000244140625</c:v>
                </c:pt>
                <c:pt idx="42">
                  <c:v>1143.300048828125</c:v>
                </c:pt>
                <c:pt idx="43">
                  <c:v>1186.5</c:v>
                </c:pt>
                <c:pt idx="44">
                  <c:v>1113.0999755859375</c:v>
                </c:pt>
                <c:pt idx="45">
                  <c:v>1213.0999755859375</c:v>
                </c:pt>
                <c:pt idx="46">
                  <c:v>1228.300048828125</c:v>
                </c:pt>
                <c:pt idx="47">
                  <c:v>1254.5</c:v>
                </c:pt>
                <c:pt idx="48">
                  <c:v>1223.0999755859375</c:v>
                </c:pt>
                <c:pt idx="49">
                  <c:v>1258.199951171875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00">
                <a:solidFill>
                  <a:srgbClr val="9A9A9A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00">
                <a:solidFill>
                  <a:srgbClr val="9A9A9A"/>
                </a:solidFill>
                <a:latin typeface="Calibri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1  · 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9875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EARNINGS PREVIEW 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80160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Georgia"/>
              </a:rPr>
              <a:t>Jindal Steel &amp; Power Limited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9019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JINDALSTEL.NS  ·  Materials  ·  Steel  · 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57984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Earnings Preview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7066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7980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CONSENSUS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RATING  ·  31 ANALYSTS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BUY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56688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56688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21280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TARGET PRICE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21280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INR 1,277.55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01896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01896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6487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UPSIDE TO TARGET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6487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F7D4F"/>
                </a:solidFill>
                <a:latin typeface="Calibri"/>
              </a:rPr>
              <a:t>+5.2%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0050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4096511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LAST CLOSE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INR 1,214.30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1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MARKET CAP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INR 1.24T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REPORT DATE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6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TBA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P/E (FY EST)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2900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12.4x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DIV. YIELD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0.26%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067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CURRENCY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067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INR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495604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04748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RECENT PERFORMANCE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DAY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F7D4F"/>
                </a:solidFill>
                <a:latin typeface="Calibri"/>
              </a:rPr>
              <a:t>+2.4%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WEEK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1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3227"/>
                </a:solidFill>
                <a:latin typeface="Calibri"/>
              </a:rPr>
              <a:t>-1.7%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2316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MONTH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2316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F7D4F"/>
                </a:solidFill>
                <a:latin typeface="Calibri"/>
              </a:rPr>
              <a:t>+2.0%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2900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3 MONTHS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2900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F7D4F"/>
                </a:solidFill>
                <a:latin typeface="Calibri"/>
              </a:rPr>
              <a:t>+4.5%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3484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6 MONTHS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3484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F7D4F"/>
                </a:solidFill>
                <a:latin typeface="Calibri"/>
              </a:rPr>
              <a:t>+16.2%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067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YTD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067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F7D4F"/>
                </a:solidFill>
                <a:latin typeface="Calibri"/>
              </a:rPr>
              <a:t>+16.3%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5907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480" y="59984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52-WEEK RANGE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INR 887.45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23559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5C5C"/>
                </a:solidFill>
                <a:latin typeface="Calibri"/>
              </a:rPr>
              <a:t>INR 1,288.80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80160" y="6400799"/>
            <a:ext cx="4297679" cy="54864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280160" y="6400799"/>
            <a:ext cx="3499929" cy="5486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Diamond 58"/>
          <p:cNvSpPr/>
          <p:nvPr/>
        </p:nvSpPr>
        <p:spPr>
          <a:xfrm>
            <a:off x="4697793" y="6345936"/>
            <a:ext cx="164592" cy="164592"/>
          </a:xfrm>
          <a:prstGeom prst="diamond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40009" y="656539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1A1A1A"/>
                </a:solidFill>
                <a:latin typeface="Calibri"/>
              </a:rPr>
              <a:t>Current  INR 1,214.30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1480" y="696772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1480" y="705916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HIGHLIGHTS  ·  KEY POINTS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EARNINGS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07592" y="7406640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Awaiting next print; consensus updates trickling in.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VALUATION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07592" y="7790688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Multiple sits in mid-range vs. 5-year history.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POSITIONING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307592" y="8174736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in line with sector peers.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WATCH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07592" y="8558784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Management commentary on forward demand is key.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RISK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307592" y="8942832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and feedstock-cost volatility remain top risks.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marketscreener, yahoo  |  Generated 13 May 2026  |  Analyst: Jabal Research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1 / 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2  ·  THESIS &amp; EXPECTATIONS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INVESTMENT 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Executive Summary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792224"/>
            <a:ext cx="6035040" cy="1691640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792224"/>
            <a:ext cx="45720" cy="169164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883664"/>
            <a:ext cx="5742431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Jabal maintains a constructive view into the upcoming print. Jindal Steel &amp; Power Limited sits in the Materials sector (Steel). Street consensus is buy (31 analysts covering); consensus target 1277.55. The shares trade at a P/E around 12.4x trailing earnings. The macro and commodity backdrop is anchored by coking_coal at 230 $/mt fob Australia (-22.0% YoY); iron_ore at 102 $/dmt cfr China (-12.0% YoY). Macro context: local-economy GDP growth recently at 6.5%. The thesis hinges on three factors: demand trajectory through H2, feedstock/input-cost discipline, and management's tone on guidance during the call. We expect the print itself to be within consensus bounds; the read on forward commentary is the swing factor.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621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712463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Q2 2026 EARNINGS EXPECTATIONS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895344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Jabal estimates vs. consensus  ·  Local currency unless stated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40965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METRIC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JABAL EST.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CONSENSUS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Δ VS CONSENSUS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4096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YOY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5254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37083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— 06/2026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16.550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3560" y="437083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62686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464515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— 06/2026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4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166.6B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464515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491947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(FY est.)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0604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188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23560" y="491947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17550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519379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(FY est.)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0604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1188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1772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19379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54681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(TTM)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0604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8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0.26%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1772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560" y="54681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1480" y="6291072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Next print: Jul 29, 2026 (period 06/2026)  ·  Consensus: Investing  ·  31 analysts covering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6748272"/>
            <a:ext cx="45720" cy="178308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607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CATALYSTS</a:t>
            </a:r>
          </a:p>
        </p:txBody>
      </p:sp>
      <p:sp>
        <p:nvSpPr>
          <p:cNvPr id="53" name="Oval 52"/>
          <p:cNvSpPr/>
          <p:nvPr/>
        </p:nvSpPr>
        <p:spPr>
          <a:xfrm>
            <a:off x="594360" y="7223759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552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beat consensus by 69.8% last quarter; 2 of last 4 quarters above estimates</a:t>
            </a:r>
          </a:p>
        </p:txBody>
      </p:sp>
      <p:sp>
        <p:nvSpPr>
          <p:cNvPr id="55" name="Oval 54"/>
          <p:cNvSpPr/>
          <p:nvPr/>
        </p:nvSpPr>
        <p:spPr>
          <a:xfrm>
            <a:off x="594360" y="7644383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552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Constructive guidance on H2 demand and pricing outlook</a:t>
            </a:r>
          </a:p>
        </p:txBody>
      </p:sp>
      <p:sp>
        <p:nvSpPr>
          <p:cNvPr id="57" name="Oval 56"/>
          <p:cNvSpPr/>
          <p:nvPr/>
        </p:nvSpPr>
        <p:spPr>
          <a:xfrm>
            <a:off x="594360" y="8065008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552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Capex/project milestones tracking on schedule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2044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520440" y="6748272"/>
            <a:ext cx="45720" cy="1783080"/>
          </a:xfrm>
          <a:prstGeom prst="rect">
            <a:avLst/>
          </a:prstGeom>
          <a:solidFill>
            <a:srgbClr val="B83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8503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RISKS</a:t>
            </a:r>
          </a:p>
        </p:txBody>
      </p:sp>
      <p:sp>
        <p:nvSpPr>
          <p:cNvPr id="62" name="Oval 61"/>
          <p:cNvSpPr/>
          <p:nvPr/>
        </p:nvSpPr>
        <p:spPr>
          <a:xfrm>
            <a:off x="3703320" y="7223759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90448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Cautious management tone could validate target-price gap</a:t>
            </a:r>
          </a:p>
        </p:txBody>
      </p:sp>
      <p:sp>
        <p:nvSpPr>
          <p:cNvPr id="64" name="Oval 63"/>
          <p:cNvSpPr/>
          <p:nvPr/>
        </p:nvSpPr>
        <p:spPr>
          <a:xfrm>
            <a:off x="3703320" y="7644383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90448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/ input cost volatility pressures margin trajectory</a:t>
            </a:r>
          </a:p>
        </p:txBody>
      </p:sp>
      <p:sp>
        <p:nvSpPr>
          <p:cNvPr id="66" name="Oval 65"/>
          <p:cNvSpPr/>
          <p:nvPr/>
        </p:nvSpPr>
        <p:spPr>
          <a:xfrm>
            <a:off x="3703320" y="8065008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90448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/ commodity-price softness weighs on top-line growth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871423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480" y="880567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WHAT TO WATCH ON THE PRINT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" y="8970264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" y="8970264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Forward demand commentary — Q3 order book and pricing trajectory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0" y="9217152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5800" y="9217152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cost outlook and supply-chain commentary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" y="9464040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9464040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Updated capex schedule and any project-pipeline updates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marketscreener, yahoo  |  Generated 13 May 2026  |  Analyst: Jabal Research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2 / 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3  ·  VALUATION &amp; 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POSITIONING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Valuation &amp; Market 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52-WEEK PRICE  ·  INR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11480" y="2029967"/>
          <a:ext cx="2926079" cy="1920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52044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P/E MULTIPLE  ·  5-YEAR 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06654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2121408"/>
            <a:ext cx="156048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33688" y="210312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25128" y="208483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9.6x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34086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0" y="2395727"/>
            <a:ext cx="141793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19433" y="237743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10873" y="235915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9.4x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61518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0" y="2670048"/>
            <a:ext cx="483149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60789" y="265176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2229" y="263347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14.0x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288950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360" y="2944368"/>
            <a:ext cx="513158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490798" y="292607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82238" y="290779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14.4x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316382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23360" y="3218688"/>
            <a:ext cx="1893584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871224" y="320040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664" y="318211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32.8x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0440" y="343814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360" y="3493008"/>
            <a:ext cx="1953603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931243" y="347472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22683" y="345643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33.6x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0440" y="371246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23360" y="3767327"/>
            <a:ext cx="745730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723370" y="374903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14810" y="373075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17.5x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0440" y="398678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360" y="4041647"/>
            <a:ext cx="363112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340752" y="402335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32192" y="400507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12.4x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8620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8x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6344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18x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40679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28x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39x</a:t>
            </a:r>
          </a:p>
        </p:txBody>
      </p:sp>
      <p:sp>
        <p:nvSpPr>
          <p:cNvPr id="49" name="Diamond 48"/>
          <p:cNvSpPr/>
          <p:nvPr/>
        </p:nvSpPr>
        <p:spPr>
          <a:xfrm>
            <a:off x="4313320" y="4242816"/>
            <a:ext cx="146304" cy="146304"/>
          </a:xfrm>
          <a:prstGeom prst="diamond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77912" y="4224528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Calibri"/>
              </a:rPr>
              <a:t>Current  (12.4x)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" y="4544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4636007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PEER COMPARABLES  ·  SELECTED GLOBAL PEERS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1480" y="4837176"/>
            <a:ext cx="1874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COMPANY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3172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TICKER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MCAP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43400" y="4837176"/>
            <a:ext cx="5943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P/E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8348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DIV YIELD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1500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1Y RETURN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507492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5093208"/>
            <a:ext cx="1874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iShares MSCI India ETF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31720" y="5093208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INDA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37560" y="5093208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$6.7B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43400" y="5093208"/>
            <a:ext cx="5943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83480" y="509320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+2.5% YTD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715000" y="509320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B83227"/>
                </a:solidFill>
                <a:latin typeface="Calibri"/>
              </a:rPr>
              <a:t>-10.7%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" y="763524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7726679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SENTIMENT  ·  ANALYST CONSENSUS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1148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120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CONSENSUS DISTRIBUTION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21208" y="8220456"/>
            <a:ext cx="1185377" cy="146304"/>
          </a:xfrm>
          <a:prstGeom prst="rect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706585" y="8220456"/>
            <a:ext cx="269403" cy="14630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975988" y="8220456"/>
            <a:ext cx="215523" cy="146304"/>
          </a:xfrm>
          <a:prstGeom prst="rect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21208" y="8421624"/>
            <a:ext cx="167030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Buy 70%   Hold 16%   Sell 12%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1208" y="8641080"/>
            <a:ext cx="16703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31 analysts covering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48412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48412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59384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AVERAGE TARGET PRICE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593848" y="8202168"/>
            <a:ext cx="1706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Calibri"/>
              </a:rPr>
              <a:t>INR 1,277.55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593848" y="8586216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Range  INR 595 — 1,430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593848" y="8750808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7D4F"/>
                </a:solidFill>
                <a:latin typeface="Calibri"/>
              </a:rPr>
              <a:t>Implied +5.2% vs last close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55676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55676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66648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LAST BROKER ACTIONS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666488" y="8220456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May. 05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196840" y="8220456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Nomura Adjusts Jindal Steel &amp; Power's Price Target to INR1,350 From INR1,280, Keeps at Buy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666488" y="8458200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May. 04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196840" y="8458200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Centrum Broking Upgrades Jindal Steel &amp; Power to Buy from Neutral; Price Target is INR1,355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666488" y="869594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Feb. 02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196840" y="8695944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Nomura Adjusts Jindal Steel &amp; Power's Price Target to INR1,280 From INR1,150, Keeps at Buy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marketscreener, yahoo  |  Generated 13 May 2026  |  Analyst: Jabal Research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3 / 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