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6858000" cy="121798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1  · 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EARNINGS PREVIEW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Georgia"/>
              </a:rPr>
              <a:t>ADNOC Drilling Company P.J.S.C.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ADNOCDRILL.AE  ·  Energy  ·  Oil &amp; Gas Drilling  · 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5798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Earnings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066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980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CONSENSUS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RATING  ·  16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BUY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6688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6688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1280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TARGET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1280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USD 6.47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1896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01896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6487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UPSIDE TO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6487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7D4F"/>
                </a:solidFill>
                <a:latin typeface="Calibri"/>
              </a:rPr>
              <a:t>+286.5%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050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096511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LAST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USD 1.67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MARKET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USD 26.8B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REPORT 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TBA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P/E (FY EST)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14.7x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DIV. YIELD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4.61%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7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CURRENCY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USD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95604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04748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RECENT PERFORMANCE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WEEK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1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316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3 MONTHS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6 MONTHS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3484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67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YTD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7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907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9984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52-WEEK RANGE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USD 1.51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59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5C5C"/>
                </a:solidFill>
                <a:latin typeface="Calibri"/>
              </a:rPr>
              <a:t>USD 1.84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80160" y="6400799"/>
            <a:ext cx="4297679" cy="54864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80160" y="6400799"/>
            <a:ext cx="2148839" cy="5486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3346703" y="6345936"/>
            <a:ext cx="164592" cy="164592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88919" y="6565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Current  USD 1.67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96772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705916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HIGHLIGHTS  ·  KEY POINTS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EARNINGS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07592" y="7406640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Awaiting next print; consensus updates trickling in.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VALUATION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07592" y="7790688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Multiple sits in mid-range vs. 5-year history.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POSITIONING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07592" y="8174736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in line with sector peers.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WATCH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07592" y="8558784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Management commentary on forward demand is key.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RISK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07592" y="8942832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and feedstock-cost volatility remain top risks.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ishares, marketscreener  |  Generated 13 May 2026  |  Analyst: Jabal Research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1 /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2  ·  THESIS &amp; EXPECTATIONS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INVESTMENT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Executive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92224"/>
            <a:ext cx="6035040" cy="1691640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45720" cy="169164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83664"/>
            <a:ext cx="57424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Jabal maintains a constructive view into the upcoming print. ADNOC Drilling Company P.J.S.C. sits in the Energy sector (Oil &amp; Gas Drilling). Street consensus is buy (16 analysts covering); consensus target 6.47. The shares trade at a P/E around 14.7x trailing earnings. The macro and commodity backdrop is anchored by brent at 68  (-20.9% YoY). Macro context: local-economy GDP growth recently at 4.0%. The thesis hinges on three factors: demand trajectory through H2, feedstock/input-cost discipline, and management's tone on guidance during the call. We expect the print itself to be within consensus bounds; the read on forward commentary is the swing factor.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21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12463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Q2 2026 EARNINGS EXPECTATIONS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895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Jabal estimates vs. consensus  ·  Local currency unless stated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0965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JABAL 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CONSENSUS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Δ VS CONSENSUS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4096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5254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708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06/2026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0.021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3708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2686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6451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06/2026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1.2B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6451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49194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(FY est.)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491947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7550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51937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(FY est.)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19379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4681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(TTM)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4.61%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1772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54681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6291072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Next print: Jul 30, 2026 (period 06/2026)  ·  Consensus: Investing  ·  16 analysts covering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6748272"/>
            <a:ext cx="45720" cy="17830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607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CATALYSTS</a:t>
            </a:r>
          </a:p>
        </p:txBody>
      </p:sp>
      <p:sp>
        <p:nvSpPr>
          <p:cNvPr id="53" name="Oval 52"/>
          <p:cNvSpPr/>
          <p:nvPr/>
        </p:nvSpPr>
        <p:spPr>
          <a:xfrm>
            <a:off x="594360" y="7223759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beat consensus by 13.2% last quarter; 3 of last 4 quarters above estimates</a:t>
            </a:r>
          </a:p>
        </p:txBody>
      </p:sp>
      <p:sp>
        <p:nvSpPr>
          <p:cNvPr id="55" name="Oval 54"/>
          <p:cNvSpPr/>
          <p:nvPr/>
        </p:nvSpPr>
        <p:spPr>
          <a:xfrm>
            <a:off x="594360" y="7644383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552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Constructive guidance on H2 demand and pricing outlook</a:t>
            </a:r>
          </a:p>
        </p:txBody>
      </p:sp>
      <p:sp>
        <p:nvSpPr>
          <p:cNvPr id="57" name="Oval 56"/>
          <p:cNvSpPr/>
          <p:nvPr/>
        </p:nvSpPr>
        <p:spPr>
          <a:xfrm>
            <a:off x="594360" y="8065008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Capex/project milestones tracking on schedule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520440" y="6748272"/>
            <a:ext cx="45720" cy="1783080"/>
          </a:xfrm>
          <a:prstGeom prst="rect">
            <a:avLst/>
          </a:prstGeom>
          <a:solidFill>
            <a:srgbClr val="B8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8503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RISKS</a:t>
            </a:r>
          </a:p>
        </p:txBody>
      </p:sp>
      <p:sp>
        <p:nvSpPr>
          <p:cNvPr id="62" name="Oval 61"/>
          <p:cNvSpPr/>
          <p:nvPr/>
        </p:nvSpPr>
        <p:spPr>
          <a:xfrm>
            <a:off x="3703320" y="7223759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90448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Cautious management tone could validate target-price gap</a:t>
            </a:r>
          </a:p>
        </p:txBody>
      </p:sp>
      <p:sp>
        <p:nvSpPr>
          <p:cNvPr id="64" name="Oval 63"/>
          <p:cNvSpPr/>
          <p:nvPr/>
        </p:nvSpPr>
        <p:spPr>
          <a:xfrm>
            <a:off x="3703320" y="7644383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90448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/ input cost volatility pressures margin trajectory</a:t>
            </a:r>
          </a:p>
        </p:txBody>
      </p:sp>
      <p:sp>
        <p:nvSpPr>
          <p:cNvPr id="66" name="Oval 65"/>
          <p:cNvSpPr/>
          <p:nvPr/>
        </p:nvSpPr>
        <p:spPr>
          <a:xfrm>
            <a:off x="3703320" y="8065008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0448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/ commodity-price softness weighs on top-line growth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871423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880567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WHAT TO WATCH ON THE PRINT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8970264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8970264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Forward demand commentary — Q3 order book and pricing trajectory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921715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9217152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cost outlook and supply-chain commentary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" y="9464040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9464040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Updated capex schedule and any project-pipeline updates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ishares, marketscreener  |  Generated 13 May 2026  |  Analyst: Jabal Research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2 / 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3  ·  VALUATION &amp;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Valuation &amp; Market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52-WEEK PRICE  ·  USD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89407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9A9A"/>
                </a:solidFill>
                <a:latin typeface="Calibri"/>
              </a:rPr>
              <a:t>No price history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P/E MULTIPLE  ·  5-YEAR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6654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121408"/>
            <a:ext cx="1808155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785795" y="21031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7235" y="208483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24.4x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3408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2395727"/>
            <a:ext cx="63514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612783" y="23774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4223" y="23591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16.2x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151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2670048"/>
            <a:ext cx="57792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55563" y="265176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47003" y="263347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15.8x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8950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0" y="2944368"/>
            <a:ext cx="878328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855968" y="292607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47408" y="290779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17.9x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16382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0" y="3218688"/>
            <a:ext cx="60653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84173" y="320040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75613" y="318211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16.0x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34381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360" y="3493008"/>
            <a:ext cx="89263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70273" y="34747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61713" y="34564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18.0x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0440" y="37124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23360" y="3767327"/>
            <a:ext cx="678058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655698" y="37490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47138" y="37307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16.5x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398678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0" y="4041647"/>
            <a:ext cx="420567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98207" y="402335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89647" y="400507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14.7x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12x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17x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79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23x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28x</a:t>
            </a:r>
          </a:p>
        </p:txBody>
      </p:sp>
      <p:sp>
        <p:nvSpPr>
          <p:cNvPr id="49" name="Diamond 48"/>
          <p:cNvSpPr/>
          <p:nvPr/>
        </p:nvSpPr>
        <p:spPr>
          <a:xfrm>
            <a:off x="4370775" y="4242816"/>
            <a:ext cx="146304" cy="146304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35367" y="422452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Calibri"/>
              </a:rPr>
              <a:t>Current  (14.7x)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4544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4636007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PEER COMPARABLES  ·  SELECTED GLOBAL PEERS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" y="4837176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COMPANY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TICKER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MCAP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4837176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P/E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8348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DIV YIELD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1500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1Y RETURN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507492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5093208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iShares MSCI UAE ETF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3172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UAE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3756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$272M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43400" y="5093208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+21.6% YTD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1500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2F7D4F"/>
                </a:solidFill>
                <a:latin typeface="Calibri"/>
              </a:rPr>
              <a:t>+12.6%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63524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726679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SENTIMENT  ·  ANALYST CONSENSUS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148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120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CONSENSUS DISTRIBUTION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" y="8220456"/>
            <a:ext cx="1565909" cy="146304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087117" y="8220456"/>
            <a:ext cx="104393" cy="14630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1208" y="8421624"/>
            <a:ext cx="167030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Buy 93%   Hold 6%   Sell 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8" y="8641080"/>
            <a:ext cx="1670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16 analysts covering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48412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48412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59384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AVERAGE TARGET PRICE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93848" y="8202168"/>
            <a:ext cx="1706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USD 6.47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93848" y="8586216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Range  USD 6 — 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93848" y="8750808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7D4F"/>
                </a:solidFill>
                <a:latin typeface="Calibri"/>
              </a:rPr>
              <a:t>Implied +286.5% vs last close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55676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55676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66648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LAST BROKER ACTIONS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66488" y="8220456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May. 12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96840" y="8220456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BofA Upbeat on Adnoc Drilling Amid Potential Oil Production Boost in UAE; Price Objective Nudged Higher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66488" y="845820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Feb. 18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96840" y="8458200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FAB Securities Affirms Adnoc Drilling's Buy Rating on Solid Q4 2025 Performance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666488" y="86959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25-04-14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196840" y="8695944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Adnoc Drilling to Dodge 'Significant' Impact of Macro Challenges, HSBC Says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ishares, marketscreener  |  Generated 13 May 2026  |  Analyst: Jabal Research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3 / 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