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121798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1  · 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EARNINGS PREVIEW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Georgia"/>
              </a:rPr>
              <a:t>OQ Exploration &amp;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OQEP.OM  ·  Energy  ·  Oil &amp; Gas Exploration  · 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579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Earnings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066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980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CONSENSUS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RATING  ·  4 ANALYSTS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BUY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6688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6688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1280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TARGET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1280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OMR 0.54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1896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01896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6487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UPSIDE TO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6487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F7D4F"/>
                </a:solidFill>
                <a:latin typeface="Calibri"/>
              </a:rPr>
              <a:t>+8.0%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96511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LAST 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OMR 0.50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MARKET CAP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OMR 4.0B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REPORT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TBA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P/E (FY EST)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13.1x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DIV. YIELD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5.76%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7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CURRENCY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7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OMR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95604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04748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RECENT 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WEEK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1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MONTH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3 MONTHS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6 MONTHS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7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YTD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7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907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9984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52-WEEK RANGE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OMR 0.45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59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Calibri"/>
              </a:rPr>
              <a:t>OMR 0.55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80160" y="6400799"/>
            <a:ext cx="4297679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80160" y="6400799"/>
            <a:ext cx="2148839" cy="5486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iamond 58"/>
          <p:cNvSpPr/>
          <p:nvPr/>
        </p:nvSpPr>
        <p:spPr>
          <a:xfrm>
            <a:off x="3346703" y="6345936"/>
            <a:ext cx="164592" cy="164592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88919" y="656539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Current  OMR 0.50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696772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705916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HIGHLIGHTS  ·  KEY POINTS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EARNINGS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07592" y="7406640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Awaiting next print; consensus updates trickling in.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VALUATION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07592" y="7790688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Multiple sits in mid-range vs. 5-year history.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POSITIONING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07592" y="8174736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in line with sector peers.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WATCH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07592" y="8558784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Management commentary on forward demand is key.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RISK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07592" y="8942832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and feedstock-cost volatility remain top risks.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ishares, marketscreener  |  Generated 13 May 2026  |  Analyst: Jabal Research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1 /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2  ·  THESIS &amp;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INVESTMENT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Executive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92224"/>
            <a:ext cx="6035040" cy="1691640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45720" cy="169164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83664"/>
            <a:ext cx="5742431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Jabal maintains a constructive view into the upcoming print. OQ Exploration &amp; Production sits in the Energy sector (Oil &amp; Gas Exploration). Street consensus is buy (4 analysts covering); consensus target 0.54. The shares trade at a P/E around 13.1x trailing earnings. The macro and commodity backdrop is anchored by brent at 68  (-20.9% YoY); hh at 4  (+3.6% YoY). Macro context: local-economy GDP growth recently at 1.6%. The thesis hinges on three factors: demand trajectory through H2, feedstock/input-cost discipline, and management's tone on guidance during the call. We expect the print itself to be within consensus bounds; the read on forward commentary is the swing factor.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21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712463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Q2 2026 EARNINGS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895344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Jabal estimates vs. consensus  ·  Local currency unless stated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965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JABAL 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CONSENSUS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Δ VS CONSENSUS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096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5254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708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— Next 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37083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2686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64515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— Next 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464515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91947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(FY est.)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491947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17550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1937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(FY est.)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519379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4681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(TTM)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8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5.76%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54681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629107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Consensus: —  ·  4 analysts covering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6748272"/>
            <a:ext cx="45720" cy="178308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CATALYSTS</a:t>
            </a:r>
          </a:p>
        </p:txBody>
      </p:sp>
      <p:sp>
        <p:nvSpPr>
          <p:cNvPr id="53" name="Oval 52"/>
          <p:cNvSpPr/>
          <p:nvPr/>
        </p:nvSpPr>
        <p:spPr>
          <a:xfrm>
            <a:off x="594360" y="7223759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Positive quarterly surprise consistent with prior track record</a:t>
            </a:r>
          </a:p>
        </p:txBody>
      </p:sp>
      <p:sp>
        <p:nvSpPr>
          <p:cNvPr id="55" name="Oval 54"/>
          <p:cNvSpPr/>
          <p:nvPr/>
        </p:nvSpPr>
        <p:spPr>
          <a:xfrm>
            <a:off x="594360" y="7644383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Constructive guidance on H2 demand and pricing outlook</a:t>
            </a:r>
          </a:p>
        </p:txBody>
      </p:sp>
      <p:sp>
        <p:nvSpPr>
          <p:cNvPr id="57" name="Oval 56"/>
          <p:cNvSpPr/>
          <p:nvPr/>
        </p:nvSpPr>
        <p:spPr>
          <a:xfrm>
            <a:off x="594360" y="8065008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Capex/project milestones tracking on schedule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044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520440" y="6748272"/>
            <a:ext cx="45720" cy="1783080"/>
          </a:xfrm>
          <a:prstGeom prst="rect">
            <a:avLst/>
          </a:prstGeom>
          <a:solidFill>
            <a:srgbClr val="B83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8503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RISKS</a:t>
            </a:r>
          </a:p>
        </p:txBody>
      </p:sp>
      <p:sp>
        <p:nvSpPr>
          <p:cNvPr id="62" name="Oval 61"/>
          <p:cNvSpPr/>
          <p:nvPr/>
        </p:nvSpPr>
        <p:spPr>
          <a:xfrm>
            <a:off x="3703320" y="7223759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0448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Cautious management tone could validate target-price gap</a:t>
            </a:r>
          </a:p>
        </p:txBody>
      </p:sp>
      <p:sp>
        <p:nvSpPr>
          <p:cNvPr id="64" name="Oval 63"/>
          <p:cNvSpPr/>
          <p:nvPr/>
        </p:nvSpPr>
        <p:spPr>
          <a:xfrm>
            <a:off x="3703320" y="7644383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0448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/ input cost volatility pressures margin trajectory</a:t>
            </a:r>
          </a:p>
        </p:txBody>
      </p:sp>
      <p:sp>
        <p:nvSpPr>
          <p:cNvPr id="66" name="Oval 65"/>
          <p:cNvSpPr/>
          <p:nvPr/>
        </p:nvSpPr>
        <p:spPr>
          <a:xfrm>
            <a:off x="3703320" y="8065008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0448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/ commodity-price softness weighs on top-line growth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871423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880567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WHAT TO WATCH ON THE PRINT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897026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8970264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Forward demand commentary — Q3 order book and pricing trajectory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921715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9217152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cost outlook and supply-chain commentary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" y="946404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9464040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Updated capex schedule and any project-pipeline updates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ishares, marketscreener  |  Generated 13 May 2026  |  Analyst: Jabal Research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2 /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3  ·  VALUATION &amp;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Valuation &amp; Market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52-WEEK PRICE  ·  OMR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94076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9A9A"/>
                </a:solidFill>
                <a:latin typeface="Calibri"/>
              </a:rPr>
              <a:t>No price history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P/E MULTIPLE  ·  5-YEAR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6654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121408"/>
            <a:ext cx="466012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43652" y="21031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092" y="208483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8.4x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3408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2395727"/>
            <a:ext cx="982882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60522" y="23774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962" y="23591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10.3x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61518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2670048"/>
            <a:ext cx="1093442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71082" y="265176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2522" y="263347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10.7x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88950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2944368"/>
            <a:ext cx="1784445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62085" y="292607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3525" y="290779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13.2x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16382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3218688"/>
            <a:ext cx="1756805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34445" y="320040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25885" y="318211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13.1x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347472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7x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47472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10x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79" y="347472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12x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47472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15x</a:t>
            </a:r>
          </a:p>
        </p:txBody>
      </p:sp>
      <p:sp>
        <p:nvSpPr>
          <p:cNvPr id="37" name="Diamond 36"/>
          <p:cNvSpPr/>
          <p:nvPr/>
        </p:nvSpPr>
        <p:spPr>
          <a:xfrm>
            <a:off x="5707013" y="3419856"/>
            <a:ext cx="146304" cy="146304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71605" y="340156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Calibri"/>
              </a:rPr>
              <a:t>Current  (13.1x)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544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4636007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PEER COMPARABLES  ·  SELECTED GLOBAL PEERS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4837176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COMPANY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TICKER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756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MCAP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4837176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P/E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8348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DIV YIELD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500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1Y RETURN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507492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5093208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iShares MSCI Emerging Markets ETF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3172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EEM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3756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43400" y="5093208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8348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1500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763524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7726679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SENTIMENT  ·  ANALYST CONSENSUS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1148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120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CONSENSUS DISTRIBUTION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1208" y="8220456"/>
            <a:ext cx="1252728" cy="146304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773936" y="8220456"/>
            <a:ext cx="417575" cy="14630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1208" y="8421624"/>
            <a:ext cx="16703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Buy 75%   Hold 25%   Sell 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1208" y="8641080"/>
            <a:ext cx="1670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4 analysts covering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48412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48412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9384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AVERAGE TARGET PRICE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93848" y="8202168"/>
            <a:ext cx="1706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OMR 0.54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93848" y="8586216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Range  OMR 0 — 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93848" y="8750808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F7D4F"/>
                </a:solidFill>
                <a:latin typeface="Calibri"/>
              </a:rPr>
              <a:t>Implied +8.0% vs last close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5676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55676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6648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LAST BROKER ACTIONS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66488" y="8275320"/>
            <a:ext cx="1706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No broker actions in feed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ishares, marketscreener  |  Generated 13 May 2026  |  Analyst: Jabal Research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3 / 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