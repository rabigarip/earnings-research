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6858000" cy="1217980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1  · 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9875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EARNINGS PREVIEW 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80160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Georgia"/>
              </a:rPr>
              <a:t>OQEP.OM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019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OQEP.OM  ·  —  ·  —  · 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57984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Earnings Preview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7066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7980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CONSENSUS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RATING  ·  4 ANALYSTS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BUY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6688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56688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21280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TARGET 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21280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0.54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01896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01896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6487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UPSIDE TO TARGET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6487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F7D4F"/>
                </a:solidFill>
                <a:latin typeface="Calibri"/>
              </a:rPr>
              <a:t>+8.0%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0050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4096511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LAST CLOSE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0.50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1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MARKET CAP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REPORT 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TBA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P/E (FY EST)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2900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DIV. YIELD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067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CURRENCY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7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495604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04748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RECENT PERFORMANCE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DAY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WEEK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1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2316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MONTH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2316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2900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3 MONTHS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2900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3484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6 MONTHS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3484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067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YTD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067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5907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" y="59984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52-WEEK RANGE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 0.00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3559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5C5C"/>
                </a:solidFill>
                <a:latin typeface="Calibri"/>
              </a:rPr>
              <a:t> 1.00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80160" y="6400799"/>
            <a:ext cx="4297679" cy="54864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280160" y="6400799"/>
            <a:ext cx="2148839" cy="5486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Diamond 58"/>
          <p:cNvSpPr/>
          <p:nvPr/>
        </p:nvSpPr>
        <p:spPr>
          <a:xfrm>
            <a:off x="3346703" y="6345936"/>
            <a:ext cx="164592" cy="164592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88920" y="656539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1A1A1A"/>
                </a:solidFill>
                <a:latin typeface="Calibri"/>
              </a:rPr>
              <a:t>Current   0.50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" y="696772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1480" y="705916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HIGHLIGHTS  ·  KEY POINTS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EARNINGS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07592" y="7406640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Awaiting next print; consensus updates trickling in.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VALUATION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07592" y="7790688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Multiple sits in mid-range vs. 5-year history.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POSITIONING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307592" y="8174736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in line with sector peers.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WATCH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07592" y="8558784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Management commentary on forward demand is key.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RISK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307592" y="8942832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and feedstock-cost volatility remain top risks.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  |  Generated 13 May 2026  |  Analyst: Jabal Research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1 /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2  ·  THESIS &amp; EXPECTATIONS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INVESTMENT 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Executive Summary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792224"/>
            <a:ext cx="6035040" cy="1691640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792224"/>
            <a:ext cx="45720" cy="169164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83664"/>
            <a:ext cx="5742431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Jabal maintains a constructive view into the upcoming print. the company sits in the — sector (—). Street consensus is buy (4 analysts covering); consensus target 0.54. The thesis hinges on three factors: demand trajectory through H2, feedstock/input-cost discipline, and management's tone on guidance during the call. We expect the print itself to be within consensus bounds; the read on forward commentary is the swing factor.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621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712463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Q2 2026 EARNINGS EXPECTATIONS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89534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Jabal estimates vs. consensus  ·  Local currency unless stated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0965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METRIC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JABAL EST.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CONSENSUS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Δ VS CONSENSUS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4096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YOY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5254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37083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— Next 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3560" y="437083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62686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464515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— Next 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4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464515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491947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(FY est.)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8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491947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17550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519379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(FY est.)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0604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1188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1772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19379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54681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(TTM)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4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1772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560" y="54681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1480" y="6291072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Consensus: —  ·  4 analysts covering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6748272"/>
            <a:ext cx="45720" cy="178308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607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CATALYSTS</a:t>
            </a:r>
          </a:p>
        </p:txBody>
      </p:sp>
      <p:sp>
        <p:nvSpPr>
          <p:cNvPr id="53" name="Oval 52"/>
          <p:cNvSpPr/>
          <p:nvPr/>
        </p:nvSpPr>
        <p:spPr>
          <a:xfrm>
            <a:off x="594360" y="7223759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552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Positive quarterly surprise consistent with prior track record</a:t>
            </a:r>
          </a:p>
        </p:txBody>
      </p:sp>
      <p:sp>
        <p:nvSpPr>
          <p:cNvPr id="55" name="Oval 54"/>
          <p:cNvSpPr/>
          <p:nvPr/>
        </p:nvSpPr>
        <p:spPr>
          <a:xfrm>
            <a:off x="594360" y="7644383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552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Constructive guidance on H2 demand and pricing outlook</a:t>
            </a:r>
          </a:p>
        </p:txBody>
      </p:sp>
      <p:sp>
        <p:nvSpPr>
          <p:cNvPr id="57" name="Oval 56"/>
          <p:cNvSpPr/>
          <p:nvPr/>
        </p:nvSpPr>
        <p:spPr>
          <a:xfrm>
            <a:off x="594360" y="8065008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552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Capex/project milestones tracking on schedule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2044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520440" y="6748272"/>
            <a:ext cx="45720" cy="1783080"/>
          </a:xfrm>
          <a:prstGeom prst="rect">
            <a:avLst/>
          </a:prstGeom>
          <a:solidFill>
            <a:srgbClr val="B83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8503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RISKS</a:t>
            </a:r>
          </a:p>
        </p:txBody>
      </p:sp>
      <p:sp>
        <p:nvSpPr>
          <p:cNvPr id="62" name="Oval 61"/>
          <p:cNvSpPr/>
          <p:nvPr/>
        </p:nvSpPr>
        <p:spPr>
          <a:xfrm>
            <a:off x="3703320" y="7223759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90448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Cautious management tone could validate target-price gap</a:t>
            </a:r>
          </a:p>
        </p:txBody>
      </p:sp>
      <p:sp>
        <p:nvSpPr>
          <p:cNvPr id="64" name="Oval 63"/>
          <p:cNvSpPr/>
          <p:nvPr/>
        </p:nvSpPr>
        <p:spPr>
          <a:xfrm>
            <a:off x="3703320" y="7644383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90448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/ input cost volatility pressures margin trajectory</a:t>
            </a:r>
          </a:p>
        </p:txBody>
      </p:sp>
      <p:sp>
        <p:nvSpPr>
          <p:cNvPr id="66" name="Oval 65"/>
          <p:cNvSpPr/>
          <p:nvPr/>
        </p:nvSpPr>
        <p:spPr>
          <a:xfrm>
            <a:off x="3703320" y="8065008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90448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/ commodity-price softness weighs on top-line growth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871423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0" y="880567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WHAT TO WATCH ON THE PRINT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8970264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8970264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Forward demand commentary — Q3 order book and pricing trajectory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9217152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5800" y="9217152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cost outlook and supply-chain commentary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" y="9464040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9464040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Updated capex schedule and any project-pipeline updates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  |  Generated 13 May 2026  |  Analyst: Jabal Research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2 / 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3  ·  VALUATION &amp; 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POSITIONING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Valuation &amp; Market 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52-WEEK PRICE  ·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894076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9A9A"/>
                </a:solidFill>
                <a:latin typeface="Calibri"/>
              </a:rPr>
              <a:t>No price history 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P/E MULTIPLE  ·  5-YEAR 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779776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9A9A"/>
                </a:solidFill>
                <a:latin typeface="Calibri"/>
              </a:rPr>
              <a:t>No P/E history available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4544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4636007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PEER COMPARABLES  ·  SELECTED GLOBAL PEERS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837176"/>
            <a:ext cx="1874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COMPANY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TICKER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MCAP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837176"/>
            <a:ext cx="5943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P/E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DIV YIELD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1Y RETURN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507492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763524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7726679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SENTIMENT  ·  ANALYST CONSENSUS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20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CONSENSUS DISTRIBUTION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1208" y="8220456"/>
            <a:ext cx="1252728" cy="146304"/>
          </a:xfrm>
          <a:prstGeom prst="rect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73936" y="8220456"/>
            <a:ext cx="417575" cy="14630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208" y="8421624"/>
            <a:ext cx="167030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Buy 75%   Hold 25%   Sell 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8" y="8641080"/>
            <a:ext cx="16703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4 analysts covering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8412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48412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59384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AVERAGE TARGET PRICE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93848" y="8202168"/>
            <a:ext cx="1706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Calibri"/>
              </a:rPr>
              <a:t> 0.54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93848" y="8586216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Range   0 — 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5676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5676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6648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LAST BROKER ACTIONS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6488" y="8275320"/>
            <a:ext cx="170687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9A"/>
                </a:solidFill>
                <a:latin typeface="Calibri"/>
              </a:rPr>
              <a:t>No broker actions in feed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  |  Generated 13 May 2026  |  Analyst: Jabal Research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3 / 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