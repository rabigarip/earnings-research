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858000" cy="1217980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1  · 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EARNINGS PREVIEW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Georgia"/>
              </a:rPr>
              <a:t>Bank Muscat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019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BKMB.OM  ·  Financials  ·  Banks  · 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57984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Earnings Preview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066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7980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CONSENSUS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RATING  ·  3 ANALYSTS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BUY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56688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56688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21280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TARGET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1280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OMR 0.47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01896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01896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6487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UPSIDE TO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6487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F7D4F"/>
                </a:solidFill>
                <a:latin typeface="Calibri"/>
              </a:rPr>
              <a:t>+4.9%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0050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096511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LAST CLOSE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OMR 0.45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1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MARKET CAP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OMR 3.4B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REPORT 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TBA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P/E (FY EST)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12.3x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DIV. YIELD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4.79%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067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CURRENCY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7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OMR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95604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04748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RECENT PERFORMANCE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DAY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WEEK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1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6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MONTH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16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2900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3 MONTHS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484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6 MONTHS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067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YTD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7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Calibri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5907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59984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52-WEEK RANGE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OMR 0.41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23559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Calibri"/>
              </a:rPr>
              <a:t>OMR 0.50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80160" y="6400799"/>
            <a:ext cx="4297679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280160" y="6400799"/>
            <a:ext cx="2148839" cy="5486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iamond 58"/>
          <p:cNvSpPr/>
          <p:nvPr/>
        </p:nvSpPr>
        <p:spPr>
          <a:xfrm>
            <a:off x="3346703" y="6345936"/>
            <a:ext cx="164592" cy="164592"/>
          </a:xfrm>
          <a:prstGeom prst="diamond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88919" y="656539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Current  OMR 0.45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696772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705916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HIGHLIGHTS  ·  KEY POINTS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EARNINGS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07592" y="7406640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Awaiting next print; consensus updates trickling in.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VALUATION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07592" y="7790688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Multiple sits in mid-range vs. 5-year history.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POSITIONING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07592" y="8174736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Dividend yield in line with sector peers.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WATCH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07592" y="8558784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Management commentary on forward demand is key.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RISK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07592" y="8942832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Macro and feedstock-cost volatility remain top risks.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ishares, marketscreener  |  Generated 13 May 2026  |  Analyst: Jabal Research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1 / 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2  ·  THESIS &amp;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INVESTMENT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Executive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92224"/>
            <a:ext cx="6035040" cy="1691640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92224"/>
            <a:ext cx="45720" cy="169164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83664"/>
            <a:ext cx="5742431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Jabal maintains a constructive view into the upcoming print. Bank Muscat sits in the Financials sector (Banks). Street consensus is buy (3 analysts covering); consensus target 0.47. The shares trade at a P/E around 12.3x trailing earnings. Macro context: local-economy GDP growth recently at 1.6%. The thesis hinges on three factors: demand trajectory through H2, feedstock/input-cost discipline, and management's tone on guidance during the call. We expect the print itself to be within consensus bounds; the read on forward commentary is the swing factor.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621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712463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Q2 2026 EARNINGS EXPECTATIONS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895344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Jabal estimates vs. consensus  ·  Local currency unless stated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0965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JABAL 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CONSENSUS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Δ VS CONSENSUS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4096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5254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3708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— Next 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437083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62686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64515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Revenue — Next 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464515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91947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(FY est.)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60" y="491947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517550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519379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Revenue (FY est.)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188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72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0" y="519379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54681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Dividend yield (TTM)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0604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1188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4.79%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2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60" y="54681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6291072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Consensus: —  ·  3 analysts covering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1480" y="6748272"/>
            <a:ext cx="45720" cy="1783080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607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CATALYSTS</a:t>
            </a:r>
          </a:p>
        </p:txBody>
      </p:sp>
      <p:sp>
        <p:nvSpPr>
          <p:cNvPr id="53" name="Oval 52"/>
          <p:cNvSpPr/>
          <p:nvPr/>
        </p:nvSpPr>
        <p:spPr>
          <a:xfrm>
            <a:off x="594360" y="7223759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552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Positive quarterly surprise consistent with prior track record</a:t>
            </a:r>
          </a:p>
        </p:txBody>
      </p:sp>
      <p:sp>
        <p:nvSpPr>
          <p:cNvPr id="55" name="Oval 54"/>
          <p:cNvSpPr/>
          <p:nvPr/>
        </p:nvSpPr>
        <p:spPr>
          <a:xfrm>
            <a:off x="594360" y="7644383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552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Constructive guidance on H2 demand and pricing outlook</a:t>
            </a:r>
          </a:p>
        </p:txBody>
      </p:sp>
      <p:sp>
        <p:nvSpPr>
          <p:cNvPr id="57" name="Oval 56"/>
          <p:cNvSpPr/>
          <p:nvPr/>
        </p:nvSpPr>
        <p:spPr>
          <a:xfrm>
            <a:off x="594360" y="8065008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Capex/project milestones tracking on schedule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2044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520440" y="6748272"/>
            <a:ext cx="45720" cy="1783080"/>
          </a:xfrm>
          <a:prstGeom prst="rect">
            <a:avLst/>
          </a:prstGeom>
          <a:solidFill>
            <a:srgbClr val="B83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8503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RISKS</a:t>
            </a:r>
          </a:p>
        </p:txBody>
      </p:sp>
      <p:sp>
        <p:nvSpPr>
          <p:cNvPr id="62" name="Oval 61"/>
          <p:cNvSpPr/>
          <p:nvPr/>
        </p:nvSpPr>
        <p:spPr>
          <a:xfrm>
            <a:off x="3703320" y="7223759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0448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Cautious management tone could validate target-price gap</a:t>
            </a:r>
          </a:p>
        </p:txBody>
      </p:sp>
      <p:sp>
        <p:nvSpPr>
          <p:cNvPr id="64" name="Oval 63"/>
          <p:cNvSpPr/>
          <p:nvPr/>
        </p:nvSpPr>
        <p:spPr>
          <a:xfrm>
            <a:off x="3703320" y="7644383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0448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/ input cost volatility pressures margin trajectory</a:t>
            </a:r>
          </a:p>
        </p:txBody>
      </p:sp>
      <p:sp>
        <p:nvSpPr>
          <p:cNvPr id="66" name="Oval 65"/>
          <p:cNvSpPr/>
          <p:nvPr/>
        </p:nvSpPr>
        <p:spPr>
          <a:xfrm>
            <a:off x="3703320" y="8065008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0448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Macro / commodity-price softness weighs on top-line growth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871423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" y="880567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WHAT TO WATCH ON THE PRINT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" y="897026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8970264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Forward demand commentary — Q3 order book and pricing trajectory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9217152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9217152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cost outlook and supply-chain commentary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1480" y="9464040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9464040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Updated capex schedule and any project-pipeline updates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ishares, marketscreener  |  Generated 13 May 2026  |  Analyst: Jabal Research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2 / 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3  ·  VALUATION &amp;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Valuation &amp; Market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52-WEEK PRICE  ·  OMR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894076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A9A9A"/>
                </a:solidFill>
                <a:latin typeface="Calibri"/>
              </a:rPr>
              <a:t>No price history 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P/E MULTIPLE  ·  5-YEAR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06654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2121408"/>
            <a:ext cx="594521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2161" y="210312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601" y="208483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9.5x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34086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2395727"/>
            <a:ext cx="920245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97885" y="237743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9325" y="235915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10.6x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61518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2670048"/>
            <a:ext cx="920245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97885" y="265176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9325" y="263347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10.6x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88950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360" y="2944368"/>
            <a:ext cx="547569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25209" y="292607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6649" y="290779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9.3x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16382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0" y="3218688"/>
            <a:ext cx="949590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927230" y="320040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18670" y="318211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10.7x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34381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360" y="3493008"/>
            <a:ext cx="1741894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9534" y="347472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10974" y="345643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13.4x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371246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23360" y="3767327"/>
            <a:ext cx="1565826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543466" y="374903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34906" y="373075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12.8x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0440" y="398678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23360" y="4041647"/>
            <a:ext cx="1419103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396743" y="402335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8183" y="400507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12.3x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86200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7x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10x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0679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13x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15x</a:t>
            </a:r>
          </a:p>
        </p:txBody>
      </p:sp>
      <p:sp>
        <p:nvSpPr>
          <p:cNvPr id="49" name="Diamond 48"/>
          <p:cNvSpPr/>
          <p:nvPr/>
        </p:nvSpPr>
        <p:spPr>
          <a:xfrm>
            <a:off x="5369311" y="4242816"/>
            <a:ext cx="146304" cy="146304"/>
          </a:xfrm>
          <a:prstGeom prst="diamond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33903" y="422452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Calibri"/>
              </a:rPr>
              <a:t>Current  (12.3x)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4544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636007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PEER COMPARABLES  ·  SELECTED GLOBAL PEERS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4837176"/>
            <a:ext cx="1874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COMPANY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3172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TICKER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756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MCAP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43400" y="4837176"/>
            <a:ext cx="594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P/E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8348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DIV YIELD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1500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1Y RETURN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507492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5093208"/>
            <a:ext cx="1874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iShares MSCI Emerging Markets ETF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31720" y="5093208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EEM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37560" y="5093208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$24.9B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5093208"/>
            <a:ext cx="594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83480" y="5093208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+33.3% YTD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15000" y="5093208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2F7D4F"/>
                </a:solidFill>
                <a:latin typeface="Calibri"/>
              </a:rPr>
              <a:t>+31.9%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763524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7726679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SENTIMENT  ·  ANALYST CONSENSUS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120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CONSENSUS DISTRIBUTION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1208" y="8220456"/>
            <a:ext cx="1113535" cy="146304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634744" y="8220456"/>
            <a:ext cx="556767" cy="14630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1208" y="8421624"/>
            <a:ext cx="16703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Buy 66%   Hold 33%   Sell 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21208" y="8641080"/>
            <a:ext cx="16703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3 analysts covering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48412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48412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59384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AVERAGE TARGET PRICE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593848" y="8202168"/>
            <a:ext cx="1706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OMR 0.47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93848" y="8586216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Range  OMR 0 — 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593848" y="8750808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F7D4F"/>
                </a:solidFill>
                <a:latin typeface="Calibri"/>
              </a:rPr>
              <a:t>Implied +4.9% vs last close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5676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55676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66648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LAST BROKER ACTIONS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666488" y="8275320"/>
            <a:ext cx="1706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Calibri"/>
              </a:rPr>
              <a:t>No broker actions in feed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ishares, marketscreener  |  Generated 13 May 2026  |  Analyst: Jabal Research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3 / 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