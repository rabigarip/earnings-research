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6858000" cy="1217980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92608"/>
            <a:ext cx="1371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Georgia"/>
              </a:rPr>
              <a:t>JABAL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530352"/>
            <a:ext cx="18288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5C5C5C"/>
                </a:solidFill>
                <a:latin typeface="Calibri"/>
              </a:rPr>
              <a:t>ASSET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88920" y="329184"/>
            <a:ext cx="3657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PAGE 1  ·  SNAPSHOT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88920" y="530352"/>
            <a:ext cx="36576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9A9A9A"/>
                </a:solidFill>
                <a:latin typeface="Calibri"/>
              </a:rPr>
              <a:t>INSTITUTIONAL RESEARCH  ·  EQUITY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804672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987552"/>
            <a:ext cx="6035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C5C5C"/>
                </a:solidFill>
                <a:latin typeface="Calibri"/>
              </a:rPr>
              <a:t>EARNINGS PREVIEW NOTE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1280160"/>
            <a:ext cx="60350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Georgia"/>
              </a:rPr>
              <a:t>Bank Muscat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901952"/>
            <a:ext cx="6035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C5C5C"/>
                </a:solidFill>
                <a:latin typeface="Calibri"/>
              </a:rPr>
              <a:t>BKMB.OM  ·  Financials  ·  Banks  ·  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2157984"/>
            <a:ext cx="6035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1A1A1A"/>
                </a:solidFill>
                <a:latin typeface="Calibri"/>
              </a:rPr>
              <a:t>Earnings Preview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2706624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2798064"/>
            <a:ext cx="6035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C5C5C"/>
                </a:solidFill>
                <a:latin typeface="Calibri"/>
              </a:rPr>
              <a:t>ANALYST CONSENSUS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3072384"/>
            <a:ext cx="1944623" cy="749808"/>
          </a:xfrm>
          <a:prstGeom prst="rect">
            <a:avLst/>
          </a:prstGeom>
          <a:solidFill>
            <a:srgbClr val="EFE8DC"/>
          </a:solidFill>
          <a:ln w="6350">
            <a:solidFill>
              <a:srgbClr val="9A9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11480" y="3072384"/>
            <a:ext cx="45720" cy="749808"/>
          </a:xfrm>
          <a:prstGeom prst="rect">
            <a:avLst/>
          </a:prstGeom>
          <a:solidFill>
            <a:srgbClr val="A288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6072" y="3145536"/>
            <a:ext cx="1761743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RATING  ·  3 ANALYSTS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6072" y="3328415"/>
            <a:ext cx="1761743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BUY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456688" y="3072384"/>
            <a:ext cx="1944623" cy="749808"/>
          </a:xfrm>
          <a:prstGeom prst="rect">
            <a:avLst/>
          </a:prstGeom>
          <a:solidFill>
            <a:srgbClr val="EFE8DC"/>
          </a:solidFill>
          <a:ln w="6350">
            <a:solidFill>
              <a:srgbClr val="9A9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456688" y="3072384"/>
            <a:ext cx="45720" cy="749808"/>
          </a:xfrm>
          <a:prstGeom prst="rect">
            <a:avLst/>
          </a:prstGeom>
          <a:solidFill>
            <a:srgbClr val="A288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621280" y="3145536"/>
            <a:ext cx="1761743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TARGET PRICE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21280" y="3328415"/>
            <a:ext cx="1761743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Calibri"/>
              </a:rPr>
              <a:t>OMR 0.47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01896" y="3072384"/>
            <a:ext cx="1944623" cy="749808"/>
          </a:xfrm>
          <a:prstGeom prst="rect">
            <a:avLst/>
          </a:prstGeom>
          <a:solidFill>
            <a:srgbClr val="EFE8DC"/>
          </a:solidFill>
          <a:ln w="6350">
            <a:solidFill>
              <a:srgbClr val="9A9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01896" y="3072384"/>
            <a:ext cx="45720" cy="749808"/>
          </a:xfrm>
          <a:prstGeom prst="rect">
            <a:avLst/>
          </a:prstGeom>
          <a:solidFill>
            <a:srgbClr val="A288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66487" y="3145536"/>
            <a:ext cx="1761743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UPSIDE TO TARGET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66487" y="3328415"/>
            <a:ext cx="1761743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2F7D4F"/>
                </a:solidFill>
                <a:latin typeface="Calibri"/>
              </a:rPr>
              <a:t>+4.9%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" y="4005072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11480" y="4096511"/>
            <a:ext cx="6035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C5C5C"/>
                </a:solidFill>
                <a:latin typeface="Calibri"/>
              </a:rPr>
              <a:t>KEY DATA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4370832"/>
            <a:ext cx="91439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LAST CLOSE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1480" y="4553712"/>
            <a:ext cx="9143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Calibri"/>
              </a:rPr>
              <a:t>OMR 0.45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417319" y="4370832"/>
            <a:ext cx="91439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MARKET CAP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417319" y="4553712"/>
            <a:ext cx="9143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Calibri"/>
              </a:rPr>
              <a:t>OMR 3.4B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423160" y="4370832"/>
            <a:ext cx="91439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REPORT DATE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423160" y="4553712"/>
            <a:ext cx="9143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Calibri"/>
              </a:rPr>
              <a:t>TBA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429000" y="4370832"/>
            <a:ext cx="91439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P/E (FY EST)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429000" y="4553712"/>
            <a:ext cx="9143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Calibri"/>
              </a:rPr>
              <a:t>12.4x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434840" y="4370832"/>
            <a:ext cx="91439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DIV. YIELD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434840" y="4553712"/>
            <a:ext cx="9143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Calibri"/>
              </a:rPr>
              <a:t>4.75%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40679" y="4370832"/>
            <a:ext cx="91439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CURRENCY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40679" y="4553712"/>
            <a:ext cx="9143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  <a:latin typeface="Calibri"/>
              </a:rPr>
              <a:t>OMR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11480" y="4956048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1480" y="5047488"/>
            <a:ext cx="6035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C5C5C"/>
                </a:solidFill>
                <a:latin typeface="Calibri"/>
              </a:rPr>
              <a:t>RECENT PERFORMANCE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11480" y="5321808"/>
            <a:ext cx="91439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1 DAY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11480" y="5504688"/>
            <a:ext cx="9143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5C5C5C"/>
                </a:solidFill>
                <a:latin typeface="Calibri"/>
              </a:rPr>
              <a:t>—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417319" y="5321808"/>
            <a:ext cx="91439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1 WEEK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417319" y="5504688"/>
            <a:ext cx="9143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5C5C5C"/>
                </a:solidFill>
                <a:latin typeface="Calibri"/>
              </a:rPr>
              <a:t>—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423160" y="5321808"/>
            <a:ext cx="91439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1 MONTH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423160" y="5504688"/>
            <a:ext cx="9143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5C5C5C"/>
                </a:solidFill>
                <a:latin typeface="Calibri"/>
              </a:rPr>
              <a:t>—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429000" y="5321808"/>
            <a:ext cx="91439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3 MONTHS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429000" y="5504688"/>
            <a:ext cx="9143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5C5C5C"/>
                </a:solidFill>
                <a:latin typeface="Calibri"/>
              </a:rPr>
              <a:t>—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434840" y="5321808"/>
            <a:ext cx="91439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6 MONTHS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434840" y="5504688"/>
            <a:ext cx="9143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5C5C5C"/>
                </a:solidFill>
                <a:latin typeface="Calibri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40679" y="5321808"/>
            <a:ext cx="91439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YTD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440679" y="5504688"/>
            <a:ext cx="9143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5C5C5C"/>
                </a:solidFill>
                <a:latin typeface="Calibri"/>
              </a:rPr>
              <a:t>—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11480" y="5907024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11480" y="5998464"/>
            <a:ext cx="6035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C5C5C"/>
                </a:solidFill>
                <a:latin typeface="Calibri"/>
              </a:rPr>
              <a:t>52-WEEK RANGE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11480" y="6309359"/>
            <a:ext cx="8229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5C5C5C"/>
                </a:solidFill>
                <a:latin typeface="Calibri"/>
              </a:rPr>
              <a:t>OMR 0.41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623559" y="6309359"/>
            <a:ext cx="8229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5C5C5C"/>
                </a:solidFill>
                <a:latin typeface="Calibri"/>
              </a:rPr>
              <a:t>OMR 0.50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280160" y="6400799"/>
            <a:ext cx="4297679" cy="54864"/>
          </a:xfrm>
          <a:prstGeom prst="rect">
            <a:avLst/>
          </a:prstGeom>
          <a:solidFill>
            <a:srgbClr val="9A9A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1280160" y="6400799"/>
            <a:ext cx="2148839" cy="54864"/>
          </a:xfrm>
          <a:prstGeom prst="rect">
            <a:avLst/>
          </a:prstGeom>
          <a:solidFill>
            <a:srgbClr val="A288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Diamond 58"/>
          <p:cNvSpPr/>
          <p:nvPr/>
        </p:nvSpPr>
        <p:spPr>
          <a:xfrm>
            <a:off x="3346703" y="6345936"/>
            <a:ext cx="164592" cy="164592"/>
          </a:xfrm>
          <a:prstGeom prst="diamond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2788919" y="6565392"/>
            <a:ext cx="12801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1A1A1A"/>
                </a:solidFill>
                <a:latin typeface="Calibri"/>
              </a:rPr>
              <a:t>Current  OMR 0.45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11480" y="6967728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411480" y="7059168"/>
            <a:ext cx="6035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C5C5C"/>
                </a:solidFill>
                <a:latin typeface="Calibri"/>
              </a:rPr>
              <a:t>ANALYST HIGHLIGHTS  ·  KEY POINTS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11480" y="7424928"/>
            <a:ext cx="777240" cy="201168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11480" y="7424928"/>
            <a:ext cx="77724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5C5C"/>
                </a:solidFill>
                <a:latin typeface="Calibri"/>
              </a:rPr>
              <a:t>EARNINGS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307592" y="7406640"/>
            <a:ext cx="5138927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Awaiting next print; consensus updates trickling in.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11480" y="7808976"/>
            <a:ext cx="777240" cy="201168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411480" y="7808976"/>
            <a:ext cx="77724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5C5C"/>
                </a:solidFill>
                <a:latin typeface="Calibri"/>
              </a:rPr>
              <a:t>VALUATION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307592" y="7790688"/>
            <a:ext cx="5138927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Multiple sits in mid-range vs. 5-year history.</a:t>
            </a:r>
          </a:p>
        </p:txBody>
      </p:sp>
      <p:sp>
        <p:nvSpPr>
          <p:cNvPr id="69" name="Rectangle 68"/>
          <p:cNvSpPr/>
          <p:nvPr/>
        </p:nvSpPr>
        <p:spPr>
          <a:xfrm>
            <a:off x="411480" y="8193024"/>
            <a:ext cx="777240" cy="201168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411480" y="8193024"/>
            <a:ext cx="77724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5C5C"/>
                </a:solidFill>
                <a:latin typeface="Calibri"/>
              </a:rPr>
              <a:t>POSITIONING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307592" y="8174736"/>
            <a:ext cx="5138927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Dividend yield in line with sector peers.</a:t>
            </a:r>
          </a:p>
        </p:txBody>
      </p:sp>
      <p:sp>
        <p:nvSpPr>
          <p:cNvPr id="72" name="Rectangle 71"/>
          <p:cNvSpPr/>
          <p:nvPr/>
        </p:nvSpPr>
        <p:spPr>
          <a:xfrm>
            <a:off x="411480" y="8577072"/>
            <a:ext cx="777240" cy="201168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411480" y="8577072"/>
            <a:ext cx="77724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5C5C"/>
                </a:solidFill>
                <a:latin typeface="Calibri"/>
              </a:rPr>
              <a:t>WATCH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307592" y="8558784"/>
            <a:ext cx="5138927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Management commentary on forward demand is key.</a:t>
            </a:r>
          </a:p>
        </p:txBody>
      </p:sp>
      <p:sp>
        <p:nvSpPr>
          <p:cNvPr id="75" name="Rectangle 74"/>
          <p:cNvSpPr/>
          <p:nvPr/>
        </p:nvSpPr>
        <p:spPr>
          <a:xfrm>
            <a:off x="411480" y="8961120"/>
            <a:ext cx="777240" cy="201168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11480" y="8961120"/>
            <a:ext cx="77724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5C5C"/>
                </a:solidFill>
                <a:latin typeface="Calibri"/>
              </a:rPr>
              <a:t>RISK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307592" y="8942832"/>
            <a:ext cx="5138927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Macro and feedstock-cost volatility remain top risks.</a:t>
            </a:r>
          </a:p>
        </p:txBody>
      </p:sp>
      <p:sp>
        <p:nvSpPr>
          <p:cNvPr id="78" name="Rectangle 77"/>
          <p:cNvSpPr/>
          <p:nvPr/>
        </p:nvSpPr>
        <p:spPr>
          <a:xfrm>
            <a:off x="411480" y="11402568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411480" y="11466576"/>
            <a:ext cx="6035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5C5C5C"/>
                </a:solidFill>
                <a:latin typeface="Calibri"/>
              </a:rPr>
              <a:t>Source: investing, marketscreener  |  Generated 13 May 2026  |  Analyst: Jabal Research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11480" y="11795760"/>
            <a:ext cx="5029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5C5C5C"/>
                </a:solidFill>
                <a:latin typeface="Calibri"/>
              </a:rPr>
              <a:t>Jabal Asset Management  ·  Regulated by the Financial Services Authority of Oman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5532120" y="11795760"/>
            <a:ext cx="9144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5C5C5C"/>
                </a:solidFill>
                <a:latin typeface="Calibri"/>
              </a:rPr>
              <a:t>1 / 3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11480" y="11960352"/>
            <a:ext cx="60350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0">
                <a:solidFill>
                  <a:srgbClr val="9A9A9A"/>
                </a:solidFill>
                <a:latin typeface="Calibri"/>
              </a:rPr>
              <a:t>CONFIDENTIAL  ·  FOR INSTITUTIONAL &amp; QUALIFIED INVESTORS ONLY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92608"/>
            <a:ext cx="1371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Georgia"/>
              </a:rPr>
              <a:t>JABAL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530352"/>
            <a:ext cx="18288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5C5C5C"/>
                </a:solidFill>
                <a:latin typeface="Calibri"/>
              </a:rPr>
              <a:t>ASSET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88920" y="329184"/>
            <a:ext cx="3657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PAGE 2  ·  THESIS &amp; EXPECTATIONS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88920" y="530352"/>
            <a:ext cx="36576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9A9A9A"/>
                </a:solidFill>
                <a:latin typeface="Calibri"/>
              </a:rPr>
              <a:t>INSTITUTIONAL RESEARCH  ·  EQUITY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804672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1480" y="987552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1078992"/>
            <a:ext cx="6035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C5C5C"/>
                </a:solidFill>
                <a:latin typeface="Calibri"/>
              </a:rPr>
              <a:t>INVESTMENT THESIS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280160"/>
            <a:ext cx="6035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>
                <a:solidFill>
                  <a:srgbClr val="1A1A1A"/>
                </a:solidFill>
                <a:latin typeface="Georgia"/>
              </a:rPr>
              <a:t>Executive Summary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1792224"/>
            <a:ext cx="6035040" cy="1691640"/>
          </a:xfrm>
          <a:prstGeom prst="rect">
            <a:avLst/>
          </a:prstGeom>
          <a:solidFill>
            <a:srgbClr val="EFE8DC"/>
          </a:solidFill>
          <a:ln w="6350">
            <a:solidFill>
              <a:srgbClr val="9A9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11480" y="1792224"/>
            <a:ext cx="45720" cy="1691640"/>
          </a:xfrm>
          <a:prstGeom prst="rect">
            <a:avLst/>
          </a:prstGeom>
          <a:solidFill>
            <a:srgbClr val="A288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1883664"/>
            <a:ext cx="5742431" cy="1508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Jabal maintains a constructive view into the upcoming print. Bank Muscat sits in the Financials sector (Banks). The shares trade at a P/E around 12.4x trailing earnings. Macro context: local-economy GDP growth recently at 1.6%. The thesis hinges on three factors: demand trajectory through H2, feedstock/input-cost discipline, and management's tone on guidance during the call. We expect the print itself to be within consensus bounds; the read on forward commentary is the swing factor.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3621024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80" y="3712463"/>
            <a:ext cx="6035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C5C5C"/>
                </a:solidFill>
                <a:latin typeface="Calibri"/>
              </a:rPr>
              <a:t>Q2 2026 EARNINGS EXPECTATIONS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3895344"/>
            <a:ext cx="6035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5C5C5C"/>
                </a:solidFill>
                <a:latin typeface="Calibri"/>
              </a:rPr>
              <a:t>Jabal estimates vs. consensus  ·  Local currency unless stated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" y="4096512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METRIC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06040" y="409651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9A9A9A"/>
                </a:solidFill>
                <a:latin typeface="Calibri"/>
              </a:rPr>
              <a:t>JABAL EST.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11880" y="409651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9A9A9A"/>
                </a:solidFill>
                <a:latin typeface="Calibri"/>
              </a:rPr>
              <a:t>CONSENSUS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7720" y="409651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9A9A9A"/>
                </a:solidFill>
                <a:latin typeface="Calibri"/>
              </a:rPr>
              <a:t>Δ VS CONSENSUS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23560" y="409651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9A9A9A"/>
                </a:solidFill>
                <a:latin typeface="Calibri"/>
              </a:rPr>
              <a:t>YOY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4352544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1480" y="4370832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EPS — Next Q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06040" y="437083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11880" y="437083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17720" y="437083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23560" y="437083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1480" y="4626864"/>
            <a:ext cx="6035040" cy="274320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1480" y="4645152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Revenue — Next Q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606040" y="464515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11880" y="464515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17720" y="464515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23560" y="464515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11480" y="4919472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EPS (FY est.)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606040" y="491947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11880" y="491947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617720" y="491947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623560" y="491947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11480" y="5175504"/>
            <a:ext cx="6035040" cy="274320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11480" y="5193792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Revenue (FY est.)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606040" y="519379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611880" y="519379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17720" y="519379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623560" y="519379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11480" y="5468112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Dividend yield (TTM)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606040" y="546811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611880" y="546811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4.75%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617720" y="5468112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623560" y="5468112"/>
            <a:ext cx="777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—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11480" y="6291072"/>
            <a:ext cx="6035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5C5C5C"/>
                </a:solidFill>
                <a:latin typeface="Calibri"/>
              </a:rPr>
              <a:t>Consensus: —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11480" y="6748272"/>
            <a:ext cx="2926079" cy="1783080"/>
          </a:xfrm>
          <a:prstGeom prst="rect">
            <a:avLst/>
          </a:prstGeom>
          <a:solidFill>
            <a:srgbClr val="FFFFFF"/>
          </a:solidFill>
          <a:ln w="6350">
            <a:solidFill>
              <a:srgbClr val="9A9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411480" y="6748272"/>
            <a:ext cx="45720" cy="1783080"/>
          </a:xfrm>
          <a:prstGeom prst="rect">
            <a:avLst/>
          </a:prstGeom>
          <a:solidFill>
            <a:srgbClr val="2F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76072" y="6821424"/>
            <a:ext cx="2743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C5C5C"/>
                </a:solidFill>
                <a:latin typeface="Calibri"/>
              </a:rPr>
              <a:t>CATALYSTS</a:t>
            </a:r>
          </a:p>
        </p:txBody>
      </p:sp>
      <p:sp>
        <p:nvSpPr>
          <p:cNvPr id="53" name="Oval 52"/>
          <p:cNvSpPr/>
          <p:nvPr/>
        </p:nvSpPr>
        <p:spPr>
          <a:xfrm>
            <a:off x="594360" y="7223759"/>
            <a:ext cx="109728" cy="109728"/>
          </a:xfrm>
          <a:prstGeom prst="ellipse">
            <a:avLst/>
          </a:prstGeom>
          <a:solidFill>
            <a:srgbClr val="2F7D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95528" y="7187184"/>
            <a:ext cx="246887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Positive quarterly surprise consistent with prior track record</a:t>
            </a:r>
          </a:p>
        </p:txBody>
      </p:sp>
      <p:sp>
        <p:nvSpPr>
          <p:cNvPr id="55" name="Oval 54"/>
          <p:cNvSpPr/>
          <p:nvPr/>
        </p:nvSpPr>
        <p:spPr>
          <a:xfrm>
            <a:off x="594360" y="7644383"/>
            <a:ext cx="109728" cy="109728"/>
          </a:xfrm>
          <a:prstGeom prst="ellipse">
            <a:avLst/>
          </a:prstGeom>
          <a:solidFill>
            <a:srgbClr val="2F7D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95528" y="7607808"/>
            <a:ext cx="246887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Constructive guidance on H2 demand and pricing outlook</a:t>
            </a:r>
          </a:p>
        </p:txBody>
      </p:sp>
      <p:sp>
        <p:nvSpPr>
          <p:cNvPr id="57" name="Oval 56"/>
          <p:cNvSpPr/>
          <p:nvPr/>
        </p:nvSpPr>
        <p:spPr>
          <a:xfrm>
            <a:off x="594360" y="8065008"/>
            <a:ext cx="109728" cy="109728"/>
          </a:xfrm>
          <a:prstGeom prst="ellipse">
            <a:avLst/>
          </a:prstGeom>
          <a:solidFill>
            <a:srgbClr val="2F7D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95528" y="8028432"/>
            <a:ext cx="246887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Capex/project milestones tracking on schedule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520440" y="6748272"/>
            <a:ext cx="2926079" cy="1783080"/>
          </a:xfrm>
          <a:prstGeom prst="rect">
            <a:avLst/>
          </a:prstGeom>
          <a:solidFill>
            <a:srgbClr val="FFFFFF"/>
          </a:solidFill>
          <a:ln w="6350">
            <a:solidFill>
              <a:srgbClr val="9A9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3520440" y="6748272"/>
            <a:ext cx="45720" cy="1783080"/>
          </a:xfrm>
          <a:prstGeom prst="rect">
            <a:avLst/>
          </a:prstGeom>
          <a:solidFill>
            <a:srgbClr val="B83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3685032" y="6821424"/>
            <a:ext cx="274319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C5C5C"/>
                </a:solidFill>
                <a:latin typeface="Calibri"/>
              </a:rPr>
              <a:t>KEY RISKS</a:t>
            </a:r>
          </a:p>
        </p:txBody>
      </p:sp>
      <p:sp>
        <p:nvSpPr>
          <p:cNvPr id="62" name="Oval 61"/>
          <p:cNvSpPr/>
          <p:nvPr/>
        </p:nvSpPr>
        <p:spPr>
          <a:xfrm>
            <a:off x="3703320" y="7223759"/>
            <a:ext cx="109728" cy="109728"/>
          </a:xfrm>
          <a:prstGeom prst="ellipse">
            <a:avLst/>
          </a:prstGeom>
          <a:solidFill>
            <a:srgbClr val="B83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904488" y="7187184"/>
            <a:ext cx="246887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Cautious management tone could validate target-price gap</a:t>
            </a:r>
          </a:p>
        </p:txBody>
      </p:sp>
      <p:sp>
        <p:nvSpPr>
          <p:cNvPr id="64" name="Oval 63"/>
          <p:cNvSpPr/>
          <p:nvPr/>
        </p:nvSpPr>
        <p:spPr>
          <a:xfrm>
            <a:off x="3703320" y="7644383"/>
            <a:ext cx="109728" cy="109728"/>
          </a:xfrm>
          <a:prstGeom prst="ellipse">
            <a:avLst/>
          </a:prstGeom>
          <a:solidFill>
            <a:srgbClr val="B83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3904488" y="7607808"/>
            <a:ext cx="246887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Feedstock / input cost volatility pressures margin trajectory</a:t>
            </a:r>
          </a:p>
        </p:txBody>
      </p:sp>
      <p:sp>
        <p:nvSpPr>
          <p:cNvPr id="66" name="Oval 65"/>
          <p:cNvSpPr/>
          <p:nvPr/>
        </p:nvSpPr>
        <p:spPr>
          <a:xfrm>
            <a:off x="3703320" y="8065008"/>
            <a:ext cx="109728" cy="109728"/>
          </a:xfrm>
          <a:prstGeom prst="ellipse">
            <a:avLst/>
          </a:prstGeom>
          <a:solidFill>
            <a:srgbClr val="B83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3904488" y="8028432"/>
            <a:ext cx="2468879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Macro / commodity-price softness weighs on top-line growth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11480" y="8714232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11480" y="8805672"/>
            <a:ext cx="6035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C5C5C"/>
                </a:solidFill>
                <a:latin typeface="Calibri"/>
              </a:rPr>
              <a:t>WHAT TO WATCH ON THE PRINT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11480" y="8970264"/>
            <a:ext cx="228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A28860"/>
                </a:solidFill>
                <a:latin typeface="Calibri"/>
              </a:rPr>
              <a:t>1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85800" y="8970264"/>
            <a:ext cx="57607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Forward demand commentary — Q3 order book and pricing trajectory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11480" y="9217152"/>
            <a:ext cx="228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A28860"/>
                </a:solidFill>
                <a:latin typeface="Calibri"/>
              </a:rPr>
              <a:t>2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85800" y="9217152"/>
            <a:ext cx="57607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Feedstock cost outlook and supply-chain commentary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11480" y="9464040"/>
            <a:ext cx="228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>
                <a:solidFill>
                  <a:srgbClr val="A28860"/>
                </a:solidFill>
                <a:latin typeface="Calibri"/>
              </a:rPr>
              <a:t>3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85800" y="9464040"/>
            <a:ext cx="57607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Updated capex schedule and any project-pipeline updates</a:t>
            </a:r>
          </a:p>
        </p:txBody>
      </p:sp>
      <p:sp>
        <p:nvSpPr>
          <p:cNvPr id="76" name="Rectangle 75"/>
          <p:cNvSpPr/>
          <p:nvPr/>
        </p:nvSpPr>
        <p:spPr>
          <a:xfrm>
            <a:off x="411480" y="11402568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411480" y="11466576"/>
            <a:ext cx="6035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5C5C5C"/>
                </a:solidFill>
                <a:latin typeface="Calibri"/>
              </a:rPr>
              <a:t>Source: investing, marketscreener  |  Generated 13 May 2026  |  Analyst: Jabal Research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411480" y="11795760"/>
            <a:ext cx="5029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5C5C5C"/>
                </a:solidFill>
                <a:latin typeface="Calibri"/>
              </a:rPr>
              <a:t>Jabal Asset Management  ·  Regulated by the Financial Services Authority of Oman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5532120" y="11795760"/>
            <a:ext cx="9144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5C5C5C"/>
                </a:solidFill>
                <a:latin typeface="Calibri"/>
              </a:rPr>
              <a:t>2 / 3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11480" y="11960352"/>
            <a:ext cx="60350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0">
                <a:solidFill>
                  <a:srgbClr val="9A9A9A"/>
                </a:solidFill>
                <a:latin typeface="Calibri"/>
              </a:rPr>
              <a:t>CONFIDENTIAL  ·  FOR INSTITUTIONAL &amp; QUALIFIED INVESTORS ONLY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92608"/>
            <a:ext cx="1371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1A1A1A"/>
                </a:solidFill>
                <a:latin typeface="Georgia"/>
              </a:rPr>
              <a:t>JABAL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530352"/>
            <a:ext cx="18288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5C5C5C"/>
                </a:solidFill>
                <a:latin typeface="Calibri"/>
              </a:rPr>
              <a:t>ASSET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88920" y="329184"/>
            <a:ext cx="3657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>
                <a:solidFill>
                  <a:srgbClr val="1A1A1A"/>
                </a:solidFill>
                <a:latin typeface="Calibri"/>
              </a:rPr>
              <a:t>PAGE 3  ·  VALUATION &amp; POSITIONING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88920" y="530352"/>
            <a:ext cx="36576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9A9A9A"/>
                </a:solidFill>
                <a:latin typeface="Calibri"/>
              </a:rPr>
              <a:t>INSTITUTIONAL RESEARCH  ·  EQUITY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804672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1480" y="987552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1078992"/>
            <a:ext cx="6035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C5C5C"/>
                </a:solidFill>
                <a:latin typeface="Calibri"/>
              </a:rPr>
              <a:t>MARKET POSITIONING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280160"/>
            <a:ext cx="6035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>
                <a:solidFill>
                  <a:srgbClr val="1A1A1A"/>
                </a:solidFill>
                <a:latin typeface="Georgia"/>
              </a:rPr>
              <a:t>Valuation &amp; Market View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1792224"/>
            <a:ext cx="292607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>
                <a:solidFill>
                  <a:srgbClr val="9A9A9A"/>
                </a:solidFill>
                <a:latin typeface="Calibri"/>
              </a:rPr>
              <a:t>52-WEEK PRICE  ·  OMR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2894076"/>
            <a:ext cx="292607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>
                <a:solidFill>
                  <a:srgbClr val="9A9A9A"/>
                </a:solidFill>
                <a:latin typeface="Calibri"/>
              </a:rPr>
              <a:t>No price history available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20440" y="1792224"/>
            <a:ext cx="292607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>
                <a:solidFill>
                  <a:srgbClr val="9A9A9A"/>
                </a:solidFill>
                <a:latin typeface="Calibri"/>
              </a:rPr>
              <a:t>P/E MULTIPLE  ·  5-YEAR RANGE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20440" y="2066543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FY2021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023360" y="2121408"/>
            <a:ext cx="586039" cy="73152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563679" y="2103120"/>
            <a:ext cx="91440" cy="109728"/>
          </a:xfrm>
          <a:prstGeom prst="ellipse">
            <a:avLst/>
          </a:prstGeom>
          <a:solidFill>
            <a:srgbClr val="7E68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55119" y="2084831"/>
            <a:ext cx="411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9.5x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20440" y="2340863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FY2022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023360" y="2395727"/>
            <a:ext cx="907117" cy="73152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884757" y="2377439"/>
            <a:ext cx="91440" cy="109728"/>
          </a:xfrm>
          <a:prstGeom prst="ellipse">
            <a:avLst/>
          </a:prstGeom>
          <a:solidFill>
            <a:srgbClr val="7E68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76197" y="2359151"/>
            <a:ext cx="411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10.6x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20440" y="2615184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FY2023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23360" y="2670048"/>
            <a:ext cx="907117" cy="73152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884757" y="2651760"/>
            <a:ext cx="91440" cy="109728"/>
          </a:xfrm>
          <a:prstGeom prst="ellipse">
            <a:avLst/>
          </a:prstGeom>
          <a:solidFill>
            <a:srgbClr val="7E68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976197" y="2633472"/>
            <a:ext cx="411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10.6x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20440" y="2889503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FY2024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023360" y="2944368"/>
            <a:ext cx="539758" cy="73152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4517398" y="2926079"/>
            <a:ext cx="91440" cy="109728"/>
          </a:xfrm>
          <a:prstGeom prst="ellipse">
            <a:avLst/>
          </a:prstGeom>
          <a:solidFill>
            <a:srgbClr val="7E68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608838" y="2907791"/>
            <a:ext cx="411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9.3x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20440" y="3163824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FY2025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023360" y="3218688"/>
            <a:ext cx="936043" cy="73152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4913683" y="3200400"/>
            <a:ext cx="91440" cy="109728"/>
          </a:xfrm>
          <a:prstGeom prst="ellipse">
            <a:avLst/>
          </a:prstGeom>
          <a:solidFill>
            <a:srgbClr val="7E68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05123" y="3182112"/>
            <a:ext cx="411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10.7x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20440" y="3438144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FY2026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360" y="3493008"/>
            <a:ext cx="1745969" cy="73152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5723609" y="3474720"/>
            <a:ext cx="91440" cy="109728"/>
          </a:xfrm>
          <a:prstGeom prst="ellipse">
            <a:avLst/>
          </a:prstGeom>
          <a:solidFill>
            <a:srgbClr val="7E68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815049" y="3456432"/>
            <a:ext cx="411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13.5x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20440" y="3712463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FY2027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023360" y="3767327"/>
            <a:ext cx="1572414" cy="73152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5550054" y="3749039"/>
            <a:ext cx="91440" cy="109728"/>
          </a:xfrm>
          <a:prstGeom prst="ellipse">
            <a:avLst/>
          </a:prstGeom>
          <a:solidFill>
            <a:srgbClr val="7E68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641494" y="3730751"/>
            <a:ext cx="411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12.9x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20440" y="3986783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FY2028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023360" y="4041647"/>
            <a:ext cx="1427784" cy="73152"/>
          </a:xfrm>
          <a:prstGeom prst="rect">
            <a:avLst/>
          </a:prstGeom>
          <a:solidFill>
            <a:srgbClr val="EFE8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5405424" y="4023359"/>
            <a:ext cx="91440" cy="109728"/>
          </a:xfrm>
          <a:prstGeom prst="ellipse">
            <a:avLst/>
          </a:prstGeom>
          <a:solidFill>
            <a:srgbClr val="7E68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496864" y="4005071"/>
            <a:ext cx="411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1A1A1A"/>
                </a:solidFill>
                <a:latin typeface="Calibri"/>
              </a:rPr>
              <a:t>12.4x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886200" y="4297680"/>
            <a:ext cx="3657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>
                <a:solidFill>
                  <a:srgbClr val="9A9A9A"/>
                </a:solidFill>
                <a:latin typeface="Calibri"/>
              </a:rPr>
              <a:t>7x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663440" y="4297680"/>
            <a:ext cx="3657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>
                <a:solidFill>
                  <a:srgbClr val="9A9A9A"/>
                </a:solidFill>
                <a:latin typeface="Calibri"/>
              </a:rPr>
              <a:t>10x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440679" y="4297680"/>
            <a:ext cx="3657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>
                <a:solidFill>
                  <a:srgbClr val="9A9A9A"/>
                </a:solidFill>
                <a:latin typeface="Calibri"/>
              </a:rPr>
              <a:t>13x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217920" y="4297680"/>
            <a:ext cx="3657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>
                <a:solidFill>
                  <a:srgbClr val="9A9A9A"/>
                </a:solidFill>
                <a:latin typeface="Calibri"/>
              </a:rPr>
              <a:t>16x</a:t>
            </a:r>
          </a:p>
        </p:txBody>
      </p:sp>
      <p:sp>
        <p:nvSpPr>
          <p:cNvPr id="49" name="Diamond 48"/>
          <p:cNvSpPr/>
          <p:nvPr/>
        </p:nvSpPr>
        <p:spPr>
          <a:xfrm>
            <a:off x="5377992" y="4242816"/>
            <a:ext cx="146304" cy="146304"/>
          </a:xfrm>
          <a:prstGeom prst="diamond">
            <a:avLst/>
          </a:prstGeom>
          <a:solidFill>
            <a:srgbClr val="1A1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542584" y="4224528"/>
            <a:ext cx="12801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>
                <a:solidFill>
                  <a:srgbClr val="1A1A1A"/>
                </a:solidFill>
                <a:latin typeface="Calibri"/>
              </a:rPr>
              <a:t>Current  (12.4x)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11480" y="4544568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11480" y="4636007"/>
            <a:ext cx="6035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C5C5C"/>
                </a:solidFill>
                <a:latin typeface="Calibri"/>
              </a:rPr>
              <a:t>PEER COMPARABLES  ·  SELECTED GLOBAL PEERS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11480" y="4837176"/>
            <a:ext cx="1874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COMPANY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331720" y="4837176"/>
            <a:ext cx="9601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Calibri"/>
              </a:rPr>
              <a:t>TICKER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337560" y="4837176"/>
            <a:ext cx="9601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9A9A9A"/>
                </a:solidFill>
                <a:latin typeface="Calibri"/>
              </a:rPr>
              <a:t>MCAP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343400" y="4837176"/>
            <a:ext cx="59435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9A9A9A"/>
                </a:solidFill>
                <a:latin typeface="Calibri"/>
              </a:rPr>
              <a:t>P/E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983480" y="4837176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9A9A9A"/>
                </a:solidFill>
                <a:latin typeface="Calibri"/>
              </a:rPr>
              <a:t>DIV YIELD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715000" y="4837176"/>
            <a:ext cx="6858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9A9A9A"/>
                </a:solidFill>
                <a:latin typeface="Calibri"/>
              </a:rPr>
              <a:t>1Y RETURN</a:t>
            </a:r>
          </a:p>
        </p:txBody>
      </p:sp>
      <p:sp>
        <p:nvSpPr>
          <p:cNvPr id="59" name="Rectangle 58"/>
          <p:cNvSpPr/>
          <p:nvPr/>
        </p:nvSpPr>
        <p:spPr>
          <a:xfrm>
            <a:off x="411480" y="5074920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411480" y="7635240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11480" y="7726679"/>
            <a:ext cx="6035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C5C5C"/>
                </a:solidFill>
                <a:latin typeface="Calibri"/>
              </a:rPr>
              <a:t>MARKET SENTIMENT  ·  ANALYST CONSENSUS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11480" y="7909560"/>
            <a:ext cx="1889759" cy="1051560"/>
          </a:xfrm>
          <a:prstGeom prst="rect">
            <a:avLst/>
          </a:prstGeom>
          <a:solidFill>
            <a:srgbClr val="FFFFFF"/>
          </a:solidFill>
          <a:ln w="6350">
            <a:solidFill>
              <a:srgbClr val="9A9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411480" y="7909560"/>
            <a:ext cx="45720" cy="1051560"/>
          </a:xfrm>
          <a:prstGeom prst="rect">
            <a:avLst/>
          </a:prstGeom>
          <a:solidFill>
            <a:srgbClr val="A288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21208" y="8001000"/>
            <a:ext cx="170687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>
                <a:solidFill>
                  <a:srgbClr val="9A9A9A"/>
                </a:solidFill>
                <a:latin typeface="Calibri"/>
              </a:rPr>
              <a:t>CONSENSUS DISTRIBUTION</a:t>
            </a:r>
          </a:p>
        </p:txBody>
      </p:sp>
      <p:sp>
        <p:nvSpPr>
          <p:cNvPr id="65" name="Rectangle 64"/>
          <p:cNvSpPr/>
          <p:nvPr/>
        </p:nvSpPr>
        <p:spPr>
          <a:xfrm>
            <a:off x="521208" y="8220456"/>
            <a:ext cx="1113535" cy="146304"/>
          </a:xfrm>
          <a:prstGeom prst="rect">
            <a:avLst/>
          </a:prstGeom>
          <a:solidFill>
            <a:srgbClr val="2F7D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1634744" y="8220456"/>
            <a:ext cx="556767" cy="146304"/>
          </a:xfrm>
          <a:prstGeom prst="rect">
            <a:avLst/>
          </a:prstGeom>
          <a:solidFill>
            <a:srgbClr val="B83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21208" y="8421624"/>
            <a:ext cx="1670303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5C5C5C"/>
                </a:solidFill>
                <a:latin typeface="Calibri"/>
              </a:rPr>
              <a:t>Buy 66%   Hold 0%   Sell 33%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21208" y="8641080"/>
            <a:ext cx="1670303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5C5C5C"/>
                </a:solidFill>
                <a:latin typeface="Calibri"/>
              </a:rPr>
              <a:t>3 analysts covering</a:t>
            </a:r>
          </a:p>
        </p:txBody>
      </p:sp>
      <p:sp>
        <p:nvSpPr>
          <p:cNvPr id="69" name="Rectangle 68"/>
          <p:cNvSpPr/>
          <p:nvPr/>
        </p:nvSpPr>
        <p:spPr>
          <a:xfrm>
            <a:off x="2484120" y="7909560"/>
            <a:ext cx="1889759" cy="1051560"/>
          </a:xfrm>
          <a:prstGeom prst="rect">
            <a:avLst/>
          </a:prstGeom>
          <a:solidFill>
            <a:srgbClr val="FFFFFF"/>
          </a:solidFill>
          <a:ln w="6350">
            <a:solidFill>
              <a:srgbClr val="9A9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2484120" y="7909560"/>
            <a:ext cx="45720" cy="1051560"/>
          </a:xfrm>
          <a:prstGeom prst="rect">
            <a:avLst/>
          </a:prstGeom>
          <a:solidFill>
            <a:srgbClr val="A288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2593848" y="8001000"/>
            <a:ext cx="170687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>
                <a:solidFill>
                  <a:srgbClr val="9A9A9A"/>
                </a:solidFill>
                <a:latin typeface="Calibri"/>
              </a:rPr>
              <a:t>AVERAGE TARGET PRICE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593848" y="8202168"/>
            <a:ext cx="17068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1A1A1A"/>
                </a:solidFill>
                <a:latin typeface="Calibri"/>
              </a:rPr>
              <a:t>OMR 0.47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593848" y="8586216"/>
            <a:ext cx="170687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5C5C5C"/>
                </a:solidFill>
                <a:latin typeface="Calibri"/>
              </a:rPr>
              <a:t>Range  OMR 0 — 1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593848" y="8750808"/>
            <a:ext cx="170687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2F7D4F"/>
                </a:solidFill>
                <a:latin typeface="Calibri"/>
              </a:rPr>
              <a:t>Implied +4.9% vs last close</a:t>
            </a:r>
          </a:p>
        </p:txBody>
      </p:sp>
      <p:sp>
        <p:nvSpPr>
          <p:cNvPr id="75" name="Rectangle 74"/>
          <p:cNvSpPr/>
          <p:nvPr/>
        </p:nvSpPr>
        <p:spPr>
          <a:xfrm>
            <a:off x="4556760" y="7909560"/>
            <a:ext cx="1889759" cy="1051560"/>
          </a:xfrm>
          <a:prstGeom prst="rect">
            <a:avLst/>
          </a:prstGeom>
          <a:solidFill>
            <a:srgbClr val="FFFFFF"/>
          </a:solidFill>
          <a:ln w="6350">
            <a:solidFill>
              <a:srgbClr val="9A9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4556760" y="7909560"/>
            <a:ext cx="45720" cy="1051560"/>
          </a:xfrm>
          <a:prstGeom prst="rect">
            <a:avLst/>
          </a:prstGeom>
          <a:solidFill>
            <a:srgbClr val="A288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4666488" y="8001000"/>
            <a:ext cx="1706879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>
                <a:solidFill>
                  <a:srgbClr val="9A9A9A"/>
                </a:solidFill>
                <a:latin typeface="Calibri"/>
              </a:rPr>
              <a:t>LAST BROKER ACTIONS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4666488" y="8275320"/>
            <a:ext cx="170687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9A9A9A"/>
                </a:solidFill>
                <a:latin typeface="Calibri"/>
              </a:rPr>
              <a:t>No broker actions in feed</a:t>
            </a:r>
          </a:p>
        </p:txBody>
      </p:sp>
      <p:sp>
        <p:nvSpPr>
          <p:cNvPr id="79" name="Rectangle 78"/>
          <p:cNvSpPr/>
          <p:nvPr/>
        </p:nvSpPr>
        <p:spPr>
          <a:xfrm>
            <a:off x="411480" y="11402568"/>
            <a:ext cx="6035040" cy="4572"/>
          </a:xfrm>
          <a:prstGeom prst="rect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411480" y="11466576"/>
            <a:ext cx="60350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5C5C5C"/>
                </a:solidFill>
                <a:latin typeface="Calibri"/>
              </a:rPr>
              <a:t>Source: investing, marketscreener  |  Generated 13 May 2026  |  Analyst: Jabal Research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11480" y="11795760"/>
            <a:ext cx="50292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5C5C5C"/>
                </a:solidFill>
                <a:latin typeface="Calibri"/>
              </a:rPr>
              <a:t>Jabal Asset Management  ·  Regulated by the Financial Services Authority of Oman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532120" y="11795760"/>
            <a:ext cx="9144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5C5C5C"/>
                </a:solidFill>
                <a:latin typeface="Calibri"/>
              </a:rPr>
              <a:t>3 / 3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11480" y="11960352"/>
            <a:ext cx="60350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0">
                <a:solidFill>
                  <a:srgbClr val="9A9A9A"/>
                </a:solidFill>
                <a:latin typeface="Calibri"/>
              </a:rPr>
              <a:t>CONFIDENTIAL  ·  FOR INSTITUTIONAL &amp; QUALIFIED INVESTORS ONLY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