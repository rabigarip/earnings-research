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6858000" cy="1217980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1  ·  SNAPSHOT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98755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EARNINGS PREVIEW 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280160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Georgia"/>
              </a:rPr>
              <a:t>Bank Muscat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90195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BKMB.OM  ·  Financials  ·  Banks  ·  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157984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Earnings Preview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7066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798064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ANALYST CONSENSUS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RATING  ·  3 ANALYSTS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BUY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56688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456688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21280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TARGET PRICE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21280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OMR 0.47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01896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01896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6487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UPSIDE TO TARGET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6487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F7D4F"/>
                </a:solidFill>
                <a:latin typeface="Calibri"/>
              </a:rPr>
              <a:t>+4.9%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0050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4096511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KEY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LAST CLOSE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OMR 0.45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19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MARKET CAP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OMR 3.4B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316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REPORT DATE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316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TBA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P/E (FY EST)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2900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12.3x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DIV. YIELD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3484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4.79%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40679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CURRENCY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40679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OMR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495604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047488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RECENT PERFORMANCE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DAY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19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WEEK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19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2316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MONTH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2316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2900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3 MONTHS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2900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3484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6 MONTHS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3484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0679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YTD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0679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1480" y="59070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1480" y="5998464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52-WEEK RANGE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6309359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OMR 0.41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23559" y="6309359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5C5C"/>
                </a:solidFill>
                <a:latin typeface="Calibri"/>
              </a:rPr>
              <a:t>OMR 0.50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80160" y="6400799"/>
            <a:ext cx="4297679" cy="54864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280160" y="6400799"/>
            <a:ext cx="2148839" cy="54864"/>
          </a:xfrm>
          <a:prstGeom prst="rect">
            <a:avLst/>
          </a:prstGeom>
          <a:solidFill>
            <a:srgbClr val="A28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Diamond 58"/>
          <p:cNvSpPr/>
          <p:nvPr/>
        </p:nvSpPr>
        <p:spPr>
          <a:xfrm>
            <a:off x="3346703" y="6345936"/>
            <a:ext cx="164592" cy="164592"/>
          </a:xfrm>
          <a:prstGeom prst="diamond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88919" y="6565392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1A1A1A"/>
                </a:solidFill>
                <a:latin typeface="Calibri"/>
              </a:rPr>
              <a:t>Current  OMR 0.45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11480" y="696772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11480" y="7059168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ANALYST HIGHLIGHTS  ·  KEY POINTS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1480" y="7424928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" y="7424928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EARNINGS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307592" y="7406640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Awaiting next print; consensus updates trickling in.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1480" y="7808976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1480" y="7808976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VALUATION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307592" y="7790688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Multiple sits in mid-range vs. 5-year history.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" y="8193024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1480" y="8193024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POSITIONING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307592" y="8174736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Dividend yield in line with sector peers.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11480" y="8577072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11480" y="8577072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WATCH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307592" y="8558784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Management commentary on forward demand is key.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11480" y="8961120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11480" y="8961120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RISK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307592" y="8942832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Macro and feedstock-cost volatility remain top risks.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investing, ishares, marketscreener  |  Generated 14 May 2026  |  Analyst: Jabal Research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1 / 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2  ·  THESIS &amp; EXPECTATIONS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98755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7899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INVESTMENT THESIS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28016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Georgia"/>
              </a:rPr>
              <a:t>Executive Summary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792224"/>
            <a:ext cx="6035040" cy="1691640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792224"/>
            <a:ext cx="45720" cy="169164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883664"/>
            <a:ext cx="5742431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Jabal maintains a constructive view into the upcoming print. Bank Muscat sits in the Financials sector (Banks). Street consensus is buy (3 analysts covering); consensus target 0.47. The shares trade at a P/E around 12.3x trailing earnings. Macro context: local-economy GDP growth recently at 1.6%. The thesis hinges on three factors: demand trajectory through H2, feedstock/input-cost discipline, and management's tone on guidance during the call. We expect the print itself to be within consensus bounds; the read on forward commentary is the swing factor.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6210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712463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Q2 2026 EARNINGS EXPECTATIONS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895344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Jabal estimates vs. consensus  ·  Local currency unless stated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409651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METRIC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JABAL EST.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CONSENSUS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Δ VS CONSENSUS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4096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YOY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5254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437083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— Next 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23560" y="437083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626864"/>
            <a:ext cx="6035040" cy="27432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464515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Revenue — Next 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0604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2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464515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491947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(FY est.)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0604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1188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23560" y="491947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5175504"/>
            <a:ext cx="6035040" cy="27432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519379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Revenue (FY est.)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0604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1188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1772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519379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546811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Dividend yield (TTM)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0604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1188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4.79%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1772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3560" y="54681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1480" y="6291072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Consensus: —  ·  3 analysts covering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6748272"/>
            <a:ext cx="2926079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6748272"/>
            <a:ext cx="45720" cy="178308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6072" y="6821424"/>
            <a:ext cx="2743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CATALYSTS</a:t>
            </a:r>
          </a:p>
        </p:txBody>
      </p:sp>
      <p:sp>
        <p:nvSpPr>
          <p:cNvPr id="53" name="Oval 52"/>
          <p:cNvSpPr/>
          <p:nvPr/>
        </p:nvSpPr>
        <p:spPr>
          <a:xfrm>
            <a:off x="594360" y="7223759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5528" y="7187184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Positive quarterly surprise consistent with prior track record</a:t>
            </a:r>
          </a:p>
        </p:txBody>
      </p:sp>
      <p:sp>
        <p:nvSpPr>
          <p:cNvPr id="55" name="Oval 54"/>
          <p:cNvSpPr/>
          <p:nvPr/>
        </p:nvSpPr>
        <p:spPr>
          <a:xfrm>
            <a:off x="594360" y="7644383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5528" y="7607808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Constructive guidance on H2 demand and pricing outlook</a:t>
            </a:r>
          </a:p>
        </p:txBody>
      </p:sp>
      <p:sp>
        <p:nvSpPr>
          <p:cNvPr id="57" name="Oval 56"/>
          <p:cNvSpPr/>
          <p:nvPr/>
        </p:nvSpPr>
        <p:spPr>
          <a:xfrm>
            <a:off x="594360" y="8065008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95528" y="8028432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Capex/project milestones tracking on schedule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520440" y="6748272"/>
            <a:ext cx="2926079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520440" y="6748272"/>
            <a:ext cx="45720" cy="1783080"/>
          </a:xfrm>
          <a:prstGeom prst="rect">
            <a:avLst/>
          </a:prstGeom>
          <a:solidFill>
            <a:srgbClr val="B83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85032" y="6821424"/>
            <a:ext cx="2743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KEY RISKS</a:t>
            </a:r>
          </a:p>
        </p:txBody>
      </p:sp>
      <p:sp>
        <p:nvSpPr>
          <p:cNvPr id="62" name="Oval 61"/>
          <p:cNvSpPr/>
          <p:nvPr/>
        </p:nvSpPr>
        <p:spPr>
          <a:xfrm>
            <a:off x="3703320" y="7223759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904488" y="7187184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Cautious management tone could validate target-price gap</a:t>
            </a:r>
          </a:p>
        </p:txBody>
      </p:sp>
      <p:sp>
        <p:nvSpPr>
          <p:cNvPr id="64" name="Oval 63"/>
          <p:cNvSpPr/>
          <p:nvPr/>
        </p:nvSpPr>
        <p:spPr>
          <a:xfrm>
            <a:off x="3703320" y="7644383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904488" y="7607808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Feedstock / input cost volatility pressures margin trajectory</a:t>
            </a:r>
          </a:p>
        </p:txBody>
      </p:sp>
      <p:sp>
        <p:nvSpPr>
          <p:cNvPr id="66" name="Oval 65"/>
          <p:cNvSpPr/>
          <p:nvPr/>
        </p:nvSpPr>
        <p:spPr>
          <a:xfrm>
            <a:off x="3703320" y="8065008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904488" y="8028432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Macro / commodity-price softness weighs on top-line growth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871423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1480" y="880567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WHAT TO WATCH ON THE PRINT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" y="8970264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" y="8970264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Forward demand commentary — Q3 order book and pricing trajectory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1480" y="9217152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5800" y="9217152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Feedstock cost outlook and supply-chain commentary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1480" y="9464040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5800" y="9464040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Updated capex schedule and any project-pipeline updates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investing, ishares, marketscreener  |  Generated 14 May 2026  |  Analyst: Jabal Research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2 / 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3  ·  VALUATION &amp; POSITIONING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98755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7899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MARKET POSITIONING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28016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Georgia"/>
              </a:rPr>
              <a:t>Valuation &amp; Market 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792224"/>
            <a:ext cx="2926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52-WEEK PRICE  ·  OMR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894076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A9A9A"/>
                </a:solidFill>
                <a:latin typeface="Calibri"/>
              </a:rPr>
              <a:t>No price history available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1792224"/>
            <a:ext cx="2926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P/E MULTIPLE  ·  5-YEAR RANGE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06654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2121408"/>
            <a:ext cx="594521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72161" y="210312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601" y="208483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9.5x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34086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0" y="2395727"/>
            <a:ext cx="920245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897885" y="237743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89325" y="235915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10.6x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61518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360" y="2670048"/>
            <a:ext cx="920245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97885" y="265176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89325" y="263347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10.6x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288950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360" y="2944368"/>
            <a:ext cx="547569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525209" y="292607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16649" y="290779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9.3x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316382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23360" y="3218688"/>
            <a:ext cx="949590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927230" y="320040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18670" y="318211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10.7x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0440" y="343814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360" y="3493008"/>
            <a:ext cx="1741894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19534" y="347472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10974" y="345643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13.4x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0440" y="371246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023360" y="3767327"/>
            <a:ext cx="1565826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5543466" y="374903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34906" y="373075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12.8x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0440" y="398678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360" y="4041647"/>
            <a:ext cx="1419103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396743" y="402335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8183" y="400507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12.3x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86200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7x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63440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10x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40679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13x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0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15x</a:t>
            </a:r>
          </a:p>
        </p:txBody>
      </p:sp>
      <p:sp>
        <p:nvSpPr>
          <p:cNvPr id="49" name="Diamond 48"/>
          <p:cNvSpPr/>
          <p:nvPr/>
        </p:nvSpPr>
        <p:spPr>
          <a:xfrm>
            <a:off x="5369311" y="4242816"/>
            <a:ext cx="146304" cy="146304"/>
          </a:xfrm>
          <a:prstGeom prst="diamond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533903" y="4224528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Calibri"/>
              </a:rPr>
              <a:t>Current  (12.3x)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1480" y="4544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4636007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PEER COMPARABLES  ·  SELECTED GLOBAL PEERS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1480" y="4837176"/>
            <a:ext cx="1874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COMPANY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31720" y="4837176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TICKER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4837176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MCAP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343400" y="4837176"/>
            <a:ext cx="5943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P/E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83480" y="483717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DIV YIELD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715000" y="483717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1Y RETURN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1480" y="5074920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5093208"/>
            <a:ext cx="1874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iShares MSCI Emerging Markets ETF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31720" y="5093208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EEM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337560" y="5093208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$24.9B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43400" y="5093208"/>
            <a:ext cx="5943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83480" y="509320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+33.3% YTD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715000" y="5093208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2F7D4F"/>
                </a:solidFill>
                <a:latin typeface="Calibri"/>
              </a:rPr>
              <a:t>+31.9%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1480" y="7635240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1480" y="7726679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MARKET SENTIMENT  ·  ANALYST CONSENSUS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1148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120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CONSENSUS DISTRIBUTION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21208" y="8220456"/>
            <a:ext cx="1113535" cy="146304"/>
          </a:xfrm>
          <a:prstGeom prst="rect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634744" y="8220456"/>
            <a:ext cx="556767" cy="146304"/>
          </a:xfrm>
          <a:prstGeom prst="rect">
            <a:avLst/>
          </a:prstGeom>
          <a:solidFill>
            <a:srgbClr val="A28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21208" y="8421624"/>
            <a:ext cx="167030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Buy 66%   Hold 33%   Sell 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1208" y="8641080"/>
            <a:ext cx="16703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3 analysts covering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48412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48412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59384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AVERAGE TARGET PRICE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593848" y="8202168"/>
            <a:ext cx="17068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Calibri"/>
              </a:rPr>
              <a:t>OMR 0.47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593848" y="8586216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Range  OMR 0 — 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593848" y="8750808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F7D4F"/>
                </a:solidFill>
                <a:latin typeface="Calibri"/>
              </a:rPr>
              <a:t>Implied +4.9% vs last close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55676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55676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66648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LAST BROKER ACTIONS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666488" y="8275320"/>
            <a:ext cx="170687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9A"/>
                </a:solidFill>
                <a:latin typeface="Calibri"/>
              </a:rPr>
              <a:t>No broker actions in feed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investing, ishares, marketscreener  |  Generated 14 May 2026  |  Analyst: Jabal Research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3 / 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