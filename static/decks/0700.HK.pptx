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solidFill>
                <a:srgbClr val="A28860"/>
              </a:solidFill>
            </a:ln>
          </c:spPr>
          <c:marker>
            <c:symbol val="none"/>
          </c:marker>
          <c:cat>
            <c:strRef>
              <c:f>Sheet1!$A$2:$A$51</c:f>
              <c:strCache>
                <c:ptCount val="50"/>
                <c:pt idx="0">
                  <c:v>05-13</c:v>
                </c:pt>
                <c:pt idx="1">
                  <c:v>05-20</c:v>
                </c:pt>
                <c:pt idx="2">
                  <c:v>05-27</c:v>
                </c:pt>
                <c:pt idx="3">
                  <c:v>06-03</c:v>
                </c:pt>
                <c:pt idx="4">
                  <c:v>06-10</c:v>
                </c:pt>
                <c:pt idx="5">
                  <c:v>06-17</c:v>
                </c:pt>
                <c:pt idx="6">
                  <c:v>06-24</c:v>
                </c:pt>
                <c:pt idx="7">
                  <c:v>07-02</c:v>
                </c:pt>
                <c:pt idx="8">
                  <c:v>07-09</c:v>
                </c:pt>
                <c:pt idx="9">
                  <c:v>07-16</c:v>
                </c:pt>
                <c:pt idx="10">
                  <c:v>07-23</c:v>
                </c:pt>
                <c:pt idx="11">
                  <c:v>07-30</c:v>
                </c:pt>
                <c:pt idx="12">
                  <c:v>08-06</c:v>
                </c:pt>
                <c:pt idx="13">
                  <c:v>08-13</c:v>
                </c:pt>
                <c:pt idx="14">
                  <c:v>08-20</c:v>
                </c:pt>
                <c:pt idx="15">
                  <c:v>08-27</c:v>
                </c:pt>
                <c:pt idx="16">
                  <c:v>09-03</c:v>
                </c:pt>
                <c:pt idx="17">
                  <c:v>09-10</c:v>
                </c:pt>
                <c:pt idx="18">
                  <c:v>09-17</c:v>
                </c:pt>
                <c:pt idx="19">
                  <c:v>09-24</c:v>
                </c:pt>
                <c:pt idx="20">
                  <c:v>10-02</c:v>
                </c:pt>
                <c:pt idx="21">
                  <c:v>10-10</c:v>
                </c:pt>
                <c:pt idx="22">
                  <c:v>10-17</c:v>
                </c:pt>
                <c:pt idx="23">
                  <c:v>10-24</c:v>
                </c:pt>
                <c:pt idx="24">
                  <c:v>11-03</c:v>
                </c:pt>
                <c:pt idx="25">
                  <c:v>11-10</c:v>
                </c:pt>
                <c:pt idx="26">
                  <c:v>11-17</c:v>
                </c:pt>
                <c:pt idx="27">
                  <c:v>11-24</c:v>
                </c:pt>
                <c:pt idx="28">
                  <c:v>12-01</c:v>
                </c:pt>
                <c:pt idx="29">
                  <c:v>12-08</c:v>
                </c:pt>
                <c:pt idx="30">
                  <c:v>12-15</c:v>
                </c:pt>
                <c:pt idx="31">
                  <c:v>12-22</c:v>
                </c:pt>
                <c:pt idx="32">
                  <c:v>12-31</c:v>
                </c:pt>
                <c:pt idx="33">
                  <c:v>01-08</c:v>
                </c:pt>
                <c:pt idx="34">
                  <c:v>01-15</c:v>
                </c:pt>
                <c:pt idx="35">
                  <c:v>01-22</c:v>
                </c:pt>
                <c:pt idx="36">
                  <c:v>01-29</c:v>
                </c:pt>
                <c:pt idx="37">
                  <c:v>02-05</c:v>
                </c:pt>
                <c:pt idx="38">
                  <c:v>02-12</c:v>
                </c:pt>
                <c:pt idx="39">
                  <c:v>02-24</c:v>
                </c:pt>
                <c:pt idx="40">
                  <c:v>03-03</c:v>
                </c:pt>
                <c:pt idx="41">
                  <c:v>03-10</c:v>
                </c:pt>
                <c:pt idx="42">
                  <c:v>03-17</c:v>
                </c:pt>
                <c:pt idx="43">
                  <c:v>03-24</c:v>
                </c:pt>
                <c:pt idx="44">
                  <c:v>03-31</c:v>
                </c:pt>
                <c:pt idx="45">
                  <c:v>04-10</c:v>
                </c:pt>
                <c:pt idx="46">
                  <c:v>04-17</c:v>
                </c:pt>
                <c:pt idx="47">
                  <c:v>04-24</c:v>
                </c:pt>
                <c:pt idx="48">
                  <c:v>05-04</c:v>
                </c:pt>
                <c:pt idx="49">
                  <c:v>05-11</c:v>
                </c:pt>
              </c:strCache>
            </c:strRef>
          </c:cat>
          <c:val>
            <c:numRef>
              <c:f>Sheet1!$B$2:$B$51</c:f>
              <c:numCache>
                <c:formatCode>General</c:formatCode>
                <c:ptCount val="50"/>
                <c:pt idx="0">
                  <c:v>506.0</c:v>
                </c:pt>
                <c:pt idx="1">
                  <c:v>517.0</c:v>
                </c:pt>
                <c:pt idx="2">
                  <c:v>512.0</c:v>
                </c:pt>
                <c:pt idx="3">
                  <c:v>505.0</c:v>
                </c:pt>
                <c:pt idx="4">
                  <c:v>513.5</c:v>
                </c:pt>
                <c:pt idx="5">
                  <c:v>513.5</c:v>
                </c:pt>
                <c:pt idx="6">
                  <c:v>509.5</c:v>
                </c:pt>
                <c:pt idx="7">
                  <c:v>501.5</c:v>
                </c:pt>
                <c:pt idx="8">
                  <c:v>497.6000061035156</c:v>
                </c:pt>
                <c:pt idx="9">
                  <c:v>516.5</c:v>
                </c:pt>
                <c:pt idx="10">
                  <c:v>552.0</c:v>
                </c:pt>
                <c:pt idx="11">
                  <c:v>549.0</c:v>
                </c:pt>
                <c:pt idx="12">
                  <c:v>568.5</c:v>
                </c:pt>
                <c:pt idx="13">
                  <c:v>586.0</c:v>
                </c:pt>
                <c:pt idx="14">
                  <c:v>590.5</c:v>
                </c:pt>
                <c:pt idx="15">
                  <c:v>599.0</c:v>
                </c:pt>
                <c:pt idx="16">
                  <c:v>598.5</c:v>
                </c:pt>
                <c:pt idx="17">
                  <c:v>633.5</c:v>
                </c:pt>
                <c:pt idx="18">
                  <c:v>661.5</c:v>
                </c:pt>
                <c:pt idx="19">
                  <c:v>648.5</c:v>
                </c:pt>
                <c:pt idx="20">
                  <c:v>676.5</c:v>
                </c:pt>
                <c:pt idx="21">
                  <c:v>651.5</c:v>
                </c:pt>
                <c:pt idx="22">
                  <c:v>608.0</c:v>
                </c:pt>
                <c:pt idx="23">
                  <c:v>637.5</c:v>
                </c:pt>
                <c:pt idx="24">
                  <c:v>628.0</c:v>
                </c:pt>
                <c:pt idx="25">
                  <c:v>649.5</c:v>
                </c:pt>
                <c:pt idx="26">
                  <c:v>636.5</c:v>
                </c:pt>
                <c:pt idx="27">
                  <c:v>624.5</c:v>
                </c:pt>
                <c:pt idx="28">
                  <c:v>619.5</c:v>
                </c:pt>
                <c:pt idx="29">
                  <c:v>605.0</c:v>
                </c:pt>
                <c:pt idx="30">
                  <c:v>603.0</c:v>
                </c:pt>
                <c:pt idx="31">
                  <c:v>614.5</c:v>
                </c:pt>
                <c:pt idx="32">
                  <c:v>599.0</c:v>
                </c:pt>
                <c:pt idx="33">
                  <c:v>616.0</c:v>
                </c:pt>
                <c:pt idx="34">
                  <c:v>622.0</c:v>
                </c:pt>
                <c:pt idx="35">
                  <c:v>597.5</c:v>
                </c:pt>
                <c:pt idx="36">
                  <c:v>622.0</c:v>
                </c:pt>
                <c:pt idx="37">
                  <c:v>558.5</c:v>
                </c:pt>
                <c:pt idx="38">
                  <c:v>535.5</c:v>
                </c:pt>
                <c:pt idx="39">
                  <c:v>520.0</c:v>
                </c:pt>
                <c:pt idx="40">
                  <c:v>510.5</c:v>
                </c:pt>
                <c:pt idx="41">
                  <c:v>553.5</c:v>
                </c:pt>
                <c:pt idx="42">
                  <c:v>550.0</c:v>
                </c:pt>
                <c:pt idx="43">
                  <c:v>514.0</c:v>
                </c:pt>
                <c:pt idx="44">
                  <c:v>484.0</c:v>
                </c:pt>
                <c:pt idx="45">
                  <c:v>504.5</c:v>
                </c:pt>
                <c:pt idx="46">
                  <c:v>510.5</c:v>
                </c:pt>
                <c:pt idx="47">
                  <c:v>493.3999938964844</c:v>
                </c:pt>
                <c:pt idx="48">
                  <c:v>473.0</c:v>
                </c:pt>
                <c:pt idx="49">
                  <c:v>464.3999938964844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Tencent Holdings Limited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0700.HK  ·  Communication Services  ·  Internet Content &amp; Information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46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CNY 725.47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+58.7%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 457.20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 3.58T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11.8x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1.76%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-0.1%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-5.6%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-17.1%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-26.4%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-25.8%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CNY 457.20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CNY 677.50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18288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119786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CNY 457.20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14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Tencent Holdings Limited sits in the Communication Services sector (Internet Content &amp; Information). Street consensus is buy (46 analysts covering); consensus target 725.47. The shares trade at a P/E around 11.8x trailing earnings. Macro context: local-economy GDP growth recently at 2.5%.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03/2026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7.240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03/2026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198.8B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1.76%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Next print: May 13, 2026 (period 03/2026)  ·  Consensus: Investing  ·  46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missed consensus by 0.8% last quarter; 1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14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CNY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029967"/>
          <a:ext cx="2926079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95154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29187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0627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16.1x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83724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14887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06327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15.3x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1851660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29300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20740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22.4x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138017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57812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9252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19.1x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83737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15012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06452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22.3x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822959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00600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92040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15.2x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55149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29137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20577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13.3x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33718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4825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06265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11.8x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9x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15x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20x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26x</a:t>
            </a:r>
          </a:p>
        </p:txBody>
      </p:sp>
      <p:sp>
        <p:nvSpPr>
          <p:cNvPr id="49" name="Diamond 48"/>
          <p:cNvSpPr/>
          <p:nvPr/>
        </p:nvSpPr>
        <p:spPr>
          <a:xfrm>
            <a:off x="4287393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51985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(11.8x)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China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MCHI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$6.6B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+31.1% YTD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2F7D4F"/>
                </a:solidFill>
                <a:latin typeface="Calibri"/>
              </a:rPr>
              <a:t>+4.8%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1561371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082579" y="8220456"/>
            <a:ext cx="72621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155201" y="8220456"/>
            <a:ext cx="36310" cy="146304"/>
          </a:xfrm>
          <a:prstGeom prst="rect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93%   Hold 4%   Sell 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46 analysts covering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CNY 725.47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CNY 420 — 890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+58.7% vs last close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Zephirin Adjusts Tencent Holdings' Price Target to HK$420 from HK$480, Keeps at Strong Sell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Apr. 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SBG Securities Downgrades Tencent Holdings to Hold From Buy; Price Target is HK$650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Mar. 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Prosus Kept at Buy as BofA Notes Magnitude of Share Buyback; Forecasts Trimmed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14 May 2026  |  Analyst: Jabal Research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