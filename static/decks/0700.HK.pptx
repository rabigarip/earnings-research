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6858000" cy="12179808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Close</c:v>
                </c:pt>
              </c:strCache>
            </c:strRef>
          </c:tx>
          <c:spPr>
            <a:ln w="19050">
              <a:solidFill>
                <a:srgbClr val="A28860"/>
              </a:solidFill>
            </a:ln>
          </c:spPr>
          <c:marker>
            <c:symbol val="none"/>
          </c:marker>
          <c:cat>
            <c:strRef>
              <c:f>Sheet1!$A$2:$A$51</c:f>
              <c:strCache>
                <c:ptCount val="50"/>
                <c:pt idx="0">
                  <c:v>05-13</c:v>
                </c:pt>
                <c:pt idx="1">
                  <c:v>05-20</c:v>
                </c:pt>
                <c:pt idx="2">
                  <c:v>05-27</c:v>
                </c:pt>
                <c:pt idx="3">
                  <c:v>06-03</c:v>
                </c:pt>
                <c:pt idx="4">
                  <c:v>06-10</c:v>
                </c:pt>
                <c:pt idx="5">
                  <c:v>06-17</c:v>
                </c:pt>
                <c:pt idx="6">
                  <c:v>06-24</c:v>
                </c:pt>
                <c:pt idx="7">
                  <c:v>07-02</c:v>
                </c:pt>
                <c:pt idx="8">
                  <c:v>07-09</c:v>
                </c:pt>
                <c:pt idx="9">
                  <c:v>07-16</c:v>
                </c:pt>
                <c:pt idx="10">
                  <c:v>07-23</c:v>
                </c:pt>
                <c:pt idx="11">
                  <c:v>07-30</c:v>
                </c:pt>
                <c:pt idx="12">
                  <c:v>08-06</c:v>
                </c:pt>
                <c:pt idx="13">
                  <c:v>08-13</c:v>
                </c:pt>
                <c:pt idx="14">
                  <c:v>08-20</c:v>
                </c:pt>
                <c:pt idx="15">
                  <c:v>08-27</c:v>
                </c:pt>
                <c:pt idx="16">
                  <c:v>09-03</c:v>
                </c:pt>
                <c:pt idx="17">
                  <c:v>09-10</c:v>
                </c:pt>
                <c:pt idx="18">
                  <c:v>09-17</c:v>
                </c:pt>
                <c:pt idx="19">
                  <c:v>09-24</c:v>
                </c:pt>
                <c:pt idx="20">
                  <c:v>10-02</c:v>
                </c:pt>
                <c:pt idx="21">
                  <c:v>10-10</c:v>
                </c:pt>
                <c:pt idx="22">
                  <c:v>10-17</c:v>
                </c:pt>
                <c:pt idx="23">
                  <c:v>10-24</c:v>
                </c:pt>
                <c:pt idx="24">
                  <c:v>11-03</c:v>
                </c:pt>
                <c:pt idx="25">
                  <c:v>11-10</c:v>
                </c:pt>
                <c:pt idx="26">
                  <c:v>11-17</c:v>
                </c:pt>
                <c:pt idx="27">
                  <c:v>11-24</c:v>
                </c:pt>
                <c:pt idx="28">
                  <c:v>12-01</c:v>
                </c:pt>
                <c:pt idx="29">
                  <c:v>12-08</c:v>
                </c:pt>
                <c:pt idx="30">
                  <c:v>12-15</c:v>
                </c:pt>
                <c:pt idx="31">
                  <c:v>12-22</c:v>
                </c:pt>
                <c:pt idx="32">
                  <c:v>12-31</c:v>
                </c:pt>
                <c:pt idx="33">
                  <c:v>01-08</c:v>
                </c:pt>
                <c:pt idx="34">
                  <c:v>01-15</c:v>
                </c:pt>
                <c:pt idx="35">
                  <c:v>01-22</c:v>
                </c:pt>
                <c:pt idx="36">
                  <c:v>01-29</c:v>
                </c:pt>
                <c:pt idx="37">
                  <c:v>02-05</c:v>
                </c:pt>
                <c:pt idx="38">
                  <c:v>02-12</c:v>
                </c:pt>
                <c:pt idx="39">
                  <c:v>02-24</c:v>
                </c:pt>
                <c:pt idx="40">
                  <c:v>03-03</c:v>
                </c:pt>
                <c:pt idx="41">
                  <c:v>03-10</c:v>
                </c:pt>
                <c:pt idx="42">
                  <c:v>03-17</c:v>
                </c:pt>
                <c:pt idx="43">
                  <c:v>03-24</c:v>
                </c:pt>
                <c:pt idx="44">
                  <c:v>03-31</c:v>
                </c:pt>
                <c:pt idx="45">
                  <c:v>04-10</c:v>
                </c:pt>
                <c:pt idx="46">
                  <c:v>04-17</c:v>
                </c:pt>
                <c:pt idx="47">
                  <c:v>04-24</c:v>
                </c:pt>
                <c:pt idx="48">
                  <c:v>05-04</c:v>
                </c:pt>
                <c:pt idx="49">
                  <c:v>05-11</c:v>
                </c:pt>
              </c:strCache>
            </c:strRef>
          </c:cat>
          <c:val>
            <c:numRef>
              <c:f>Sheet1!$B$2:$B$51</c:f>
              <c:numCache>
                <c:formatCode>General</c:formatCode>
                <c:ptCount val="50"/>
                <c:pt idx="0">
                  <c:v>506.0</c:v>
                </c:pt>
                <c:pt idx="1">
                  <c:v>517.0</c:v>
                </c:pt>
                <c:pt idx="2">
                  <c:v>512.0</c:v>
                </c:pt>
                <c:pt idx="3">
                  <c:v>505.0</c:v>
                </c:pt>
                <c:pt idx="4">
                  <c:v>513.5</c:v>
                </c:pt>
                <c:pt idx="5">
                  <c:v>513.5</c:v>
                </c:pt>
                <c:pt idx="6">
                  <c:v>509.5</c:v>
                </c:pt>
                <c:pt idx="7">
                  <c:v>501.5</c:v>
                </c:pt>
                <c:pt idx="8">
                  <c:v>497.6000061035156</c:v>
                </c:pt>
                <c:pt idx="9">
                  <c:v>516.5</c:v>
                </c:pt>
                <c:pt idx="10">
                  <c:v>552.0</c:v>
                </c:pt>
                <c:pt idx="11">
                  <c:v>549.0</c:v>
                </c:pt>
                <c:pt idx="12">
                  <c:v>568.5</c:v>
                </c:pt>
                <c:pt idx="13">
                  <c:v>586.0</c:v>
                </c:pt>
                <c:pt idx="14">
                  <c:v>590.5</c:v>
                </c:pt>
                <c:pt idx="15">
                  <c:v>599.0</c:v>
                </c:pt>
                <c:pt idx="16">
                  <c:v>598.5</c:v>
                </c:pt>
                <c:pt idx="17">
                  <c:v>633.5</c:v>
                </c:pt>
                <c:pt idx="18">
                  <c:v>661.5</c:v>
                </c:pt>
                <c:pt idx="19">
                  <c:v>648.5</c:v>
                </c:pt>
                <c:pt idx="20">
                  <c:v>676.5</c:v>
                </c:pt>
                <c:pt idx="21">
                  <c:v>651.5</c:v>
                </c:pt>
                <c:pt idx="22">
                  <c:v>608.0</c:v>
                </c:pt>
                <c:pt idx="23">
                  <c:v>637.5</c:v>
                </c:pt>
                <c:pt idx="24">
                  <c:v>628.0</c:v>
                </c:pt>
                <c:pt idx="25">
                  <c:v>649.5</c:v>
                </c:pt>
                <c:pt idx="26">
                  <c:v>636.5</c:v>
                </c:pt>
                <c:pt idx="27">
                  <c:v>624.5</c:v>
                </c:pt>
                <c:pt idx="28">
                  <c:v>619.5</c:v>
                </c:pt>
                <c:pt idx="29">
                  <c:v>605.0</c:v>
                </c:pt>
                <c:pt idx="30">
                  <c:v>603.0</c:v>
                </c:pt>
                <c:pt idx="31">
                  <c:v>614.5</c:v>
                </c:pt>
                <c:pt idx="32">
                  <c:v>599.0</c:v>
                </c:pt>
                <c:pt idx="33">
                  <c:v>616.0</c:v>
                </c:pt>
                <c:pt idx="34">
                  <c:v>622.0</c:v>
                </c:pt>
                <c:pt idx="35">
                  <c:v>597.5</c:v>
                </c:pt>
                <c:pt idx="36">
                  <c:v>622.0</c:v>
                </c:pt>
                <c:pt idx="37">
                  <c:v>558.5</c:v>
                </c:pt>
                <c:pt idx="38">
                  <c:v>535.5</c:v>
                </c:pt>
                <c:pt idx="39">
                  <c:v>520.0</c:v>
                </c:pt>
                <c:pt idx="40">
                  <c:v>510.5</c:v>
                </c:pt>
                <c:pt idx="41">
                  <c:v>553.5</c:v>
                </c:pt>
                <c:pt idx="42">
                  <c:v>550.0</c:v>
                </c:pt>
                <c:pt idx="43">
                  <c:v>514.0</c:v>
                </c:pt>
                <c:pt idx="44">
                  <c:v>484.0</c:v>
                </c:pt>
                <c:pt idx="45">
                  <c:v>504.5</c:v>
                </c:pt>
                <c:pt idx="46">
                  <c:v>510.5</c:v>
                </c:pt>
                <c:pt idx="47">
                  <c:v>493.3999938964844</c:v>
                </c:pt>
                <c:pt idx="48">
                  <c:v>473.0</c:v>
                </c:pt>
                <c:pt idx="49">
                  <c:v>464.3999938964844</c:v>
                </c:pt>
              </c:numCache>
            </c:numRef>
          </c:val>
          <c:smooth val="0"/>
        </c:ser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majorTickMark val="out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700">
                <a:solidFill>
                  <a:srgbClr val="9A9A9A"/>
                </a:solidFill>
                <a:latin typeface="Calibri"/>
              </a:defRPr>
            </a:pPr>
          </a:p>
        </c:txPr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/>
        <c:delete val="0"/>
        <c:axPos val="l"/>
        <c:majorGridlines/>
        <c:majorTickMark val="out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700">
                <a:solidFill>
                  <a:srgbClr val="9A9A9A"/>
                </a:solidFill>
                <a:latin typeface="Calibri"/>
              </a:defRPr>
            </a:pPr>
          </a:p>
        </c:txPr>
        <c:crossAx val="2118791784"/>
        <c:crosses val="autoZero"/>
      </c:valAx>
    </c:plotArea>
    <c:plotVisOnly val="1"/>
    <c:dispBlanksAs val="gap"/>
    <c:showDLblsOverMax val="0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92608"/>
            <a:ext cx="13716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>
                <a:solidFill>
                  <a:srgbClr val="1A1A1A"/>
                </a:solidFill>
                <a:latin typeface="Georgia"/>
              </a:rPr>
              <a:t>JABAL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11480" y="530352"/>
            <a:ext cx="182880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0">
                <a:solidFill>
                  <a:srgbClr val="5C5C5C"/>
                </a:solidFill>
                <a:latin typeface="Calibri"/>
              </a:rPr>
              <a:t>ASSET MANAGEMENT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88920" y="329184"/>
            <a:ext cx="36576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>
                <a:solidFill>
                  <a:srgbClr val="1A1A1A"/>
                </a:solidFill>
                <a:latin typeface="Calibri"/>
              </a:rPr>
              <a:t>PAGE 1  ·  SNAPSHOT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88920" y="530352"/>
            <a:ext cx="365760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50" b="0">
                <a:solidFill>
                  <a:srgbClr val="9A9A9A"/>
                </a:solidFill>
                <a:latin typeface="Calibri"/>
              </a:rPr>
              <a:t>INSTITUTIONAL RESEARCH  ·  EQUITY</a:t>
            </a:r>
          </a:p>
        </p:txBody>
      </p:sp>
      <p:sp>
        <p:nvSpPr>
          <p:cNvPr id="6" name="Rectangle 5"/>
          <p:cNvSpPr/>
          <p:nvPr/>
        </p:nvSpPr>
        <p:spPr>
          <a:xfrm>
            <a:off x="411480" y="804672"/>
            <a:ext cx="6035040" cy="4572"/>
          </a:xfrm>
          <a:prstGeom prst="rect">
            <a:avLst/>
          </a:prstGeom>
          <a:solidFill>
            <a:srgbClr val="9A9A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987552"/>
            <a:ext cx="603504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1">
                <a:solidFill>
                  <a:srgbClr val="5C5C5C"/>
                </a:solidFill>
                <a:latin typeface="Calibri"/>
              </a:rPr>
              <a:t>EARNINGS PREVIEW NOTE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11480" y="1280160"/>
            <a:ext cx="603504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600" b="0">
                <a:solidFill>
                  <a:srgbClr val="1A1A1A"/>
                </a:solidFill>
                <a:latin typeface="Georgia"/>
              </a:rPr>
              <a:t>Tencent Holdings Limited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11480" y="1901952"/>
            <a:ext cx="603504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5C5C5C"/>
                </a:solidFill>
                <a:latin typeface="Calibri"/>
              </a:rPr>
              <a:t>0700.HK  ·  Communication Services  ·  Internet Content &amp; Information  ·  —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11480" y="2157984"/>
            <a:ext cx="60350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>
                <a:solidFill>
                  <a:srgbClr val="1A1A1A"/>
                </a:solidFill>
                <a:latin typeface="Calibri"/>
              </a:rPr>
              <a:t>Earnings Preview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11480" y="2706624"/>
            <a:ext cx="6035040" cy="4572"/>
          </a:xfrm>
          <a:prstGeom prst="rect">
            <a:avLst/>
          </a:prstGeom>
          <a:solidFill>
            <a:srgbClr val="9A9A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11480" y="2798064"/>
            <a:ext cx="603504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1">
                <a:solidFill>
                  <a:srgbClr val="5C5C5C"/>
                </a:solidFill>
                <a:latin typeface="Calibri"/>
              </a:rPr>
              <a:t>ANALYST CONSENSUS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11480" y="3072384"/>
            <a:ext cx="1944623" cy="749808"/>
          </a:xfrm>
          <a:prstGeom prst="rect">
            <a:avLst/>
          </a:prstGeom>
          <a:solidFill>
            <a:srgbClr val="EFE8DC"/>
          </a:solidFill>
          <a:ln w="6350">
            <a:solidFill>
              <a:srgbClr val="9A9A9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11480" y="3072384"/>
            <a:ext cx="45720" cy="749808"/>
          </a:xfrm>
          <a:prstGeom prst="rect">
            <a:avLst/>
          </a:prstGeom>
          <a:solidFill>
            <a:srgbClr val="A288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76072" y="3145536"/>
            <a:ext cx="1761743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0">
                <a:solidFill>
                  <a:srgbClr val="9A9A9A"/>
                </a:solidFill>
                <a:latin typeface="Calibri"/>
              </a:rPr>
              <a:t>RATING  ·  46 ANALYSTS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76072" y="3328415"/>
            <a:ext cx="1761743" cy="4389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>
                <a:solidFill>
                  <a:srgbClr val="1A1A1A"/>
                </a:solidFill>
                <a:latin typeface="Calibri"/>
              </a:rPr>
              <a:t>BUY</a:t>
            </a:r>
          </a:p>
        </p:txBody>
      </p:sp>
      <p:sp>
        <p:nvSpPr>
          <p:cNvPr id="17" name="Rectangle 16"/>
          <p:cNvSpPr/>
          <p:nvPr/>
        </p:nvSpPr>
        <p:spPr>
          <a:xfrm>
            <a:off x="2456688" y="3072384"/>
            <a:ext cx="1944623" cy="749808"/>
          </a:xfrm>
          <a:prstGeom prst="rect">
            <a:avLst/>
          </a:prstGeom>
          <a:solidFill>
            <a:srgbClr val="EFE8DC"/>
          </a:solidFill>
          <a:ln w="6350">
            <a:solidFill>
              <a:srgbClr val="9A9A9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2456688" y="3072384"/>
            <a:ext cx="45720" cy="749808"/>
          </a:xfrm>
          <a:prstGeom prst="rect">
            <a:avLst/>
          </a:prstGeom>
          <a:solidFill>
            <a:srgbClr val="A288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2621280" y="3145536"/>
            <a:ext cx="1761743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0">
                <a:solidFill>
                  <a:srgbClr val="9A9A9A"/>
                </a:solidFill>
                <a:latin typeface="Calibri"/>
              </a:rPr>
              <a:t>TARGET PRICE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621280" y="3328415"/>
            <a:ext cx="1761743" cy="4389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>
                <a:solidFill>
                  <a:srgbClr val="1A1A1A"/>
                </a:solidFill>
                <a:latin typeface="Calibri"/>
              </a:rPr>
              <a:t>CNY 725.47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501896" y="3072384"/>
            <a:ext cx="1944623" cy="749808"/>
          </a:xfrm>
          <a:prstGeom prst="rect">
            <a:avLst/>
          </a:prstGeom>
          <a:solidFill>
            <a:srgbClr val="EFE8DC"/>
          </a:solidFill>
          <a:ln w="6350">
            <a:solidFill>
              <a:srgbClr val="9A9A9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4501896" y="3072384"/>
            <a:ext cx="45720" cy="749808"/>
          </a:xfrm>
          <a:prstGeom prst="rect">
            <a:avLst/>
          </a:prstGeom>
          <a:solidFill>
            <a:srgbClr val="A288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666487" y="3145536"/>
            <a:ext cx="1761743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0">
                <a:solidFill>
                  <a:srgbClr val="9A9A9A"/>
                </a:solidFill>
                <a:latin typeface="Calibri"/>
              </a:rPr>
              <a:t>UPSIDE TO TARGET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666487" y="3328415"/>
            <a:ext cx="1761743" cy="4389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>
                <a:solidFill>
                  <a:srgbClr val="2F7D4F"/>
                </a:solidFill>
                <a:latin typeface="Calibri"/>
              </a:rPr>
              <a:t>+58.7%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11480" y="4005072"/>
            <a:ext cx="6035040" cy="4572"/>
          </a:xfrm>
          <a:prstGeom prst="rect">
            <a:avLst/>
          </a:prstGeom>
          <a:solidFill>
            <a:srgbClr val="9A9A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11480" y="4096511"/>
            <a:ext cx="603504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1">
                <a:solidFill>
                  <a:srgbClr val="5C5C5C"/>
                </a:solidFill>
                <a:latin typeface="Calibri"/>
              </a:rPr>
              <a:t>KEY DATA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11480" y="4370832"/>
            <a:ext cx="914399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0">
                <a:solidFill>
                  <a:srgbClr val="9A9A9A"/>
                </a:solidFill>
                <a:latin typeface="Calibri"/>
              </a:rPr>
              <a:t>LAST CLOSE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11480" y="4553712"/>
            <a:ext cx="914399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1A1A1A"/>
                </a:solidFill>
                <a:latin typeface="Calibri"/>
              </a:rPr>
              <a:t>CNY 457.20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417319" y="4370832"/>
            <a:ext cx="914399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0">
                <a:solidFill>
                  <a:srgbClr val="9A9A9A"/>
                </a:solidFill>
                <a:latin typeface="Calibri"/>
              </a:rPr>
              <a:t>MARKET CAP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417319" y="4553712"/>
            <a:ext cx="914399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1A1A1A"/>
                </a:solidFill>
                <a:latin typeface="Calibri"/>
              </a:rPr>
              <a:t>CNY 3.58T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423160" y="4370832"/>
            <a:ext cx="914399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0">
                <a:solidFill>
                  <a:srgbClr val="9A9A9A"/>
                </a:solidFill>
                <a:latin typeface="Calibri"/>
              </a:rPr>
              <a:t>REPORT DATE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2423160" y="4553712"/>
            <a:ext cx="914399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1A1A1A"/>
                </a:solidFill>
                <a:latin typeface="Calibri"/>
              </a:rPr>
              <a:t>TBA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3429000" y="4370832"/>
            <a:ext cx="914399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0">
                <a:solidFill>
                  <a:srgbClr val="9A9A9A"/>
                </a:solidFill>
                <a:latin typeface="Calibri"/>
              </a:rPr>
              <a:t>P/E (FY EST)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3429000" y="4553712"/>
            <a:ext cx="914399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1A1A1A"/>
                </a:solidFill>
                <a:latin typeface="Calibri"/>
              </a:rPr>
              <a:t>11.8x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434840" y="4370832"/>
            <a:ext cx="914399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0">
                <a:solidFill>
                  <a:srgbClr val="9A9A9A"/>
                </a:solidFill>
                <a:latin typeface="Calibri"/>
              </a:rPr>
              <a:t>DIV. YIELD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434840" y="4553712"/>
            <a:ext cx="914399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1A1A1A"/>
                </a:solidFill>
                <a:latin typeface="Calibri"/>
              </a:rPr>
              <a:t>1.76%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440679" y="4370832"/>
            <a:ext cx="914399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0">
                <a:solidFill>
                  <a:srgbClr val="9A9A9A"/>
                </a:solidFill>
                <a:latin typeface="Calibri"/>
              </a:rPr>
              <a:t>CURRENCY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440679" y="4553712"/>
            <a:ext cx="914399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1A1A1A"/>
                </a:solidFill>
                <a:latin typeface="Calibri"/>
              </a:rPr>
              <a:t>CNY</a:t>
            </a:r>
          </a:p>
        </p:txBody>
      </p:sp>
      <p:sp>
        <p:nvSpPr>
          <p:cNvPr id="39" name="Rectangle 38"/>
          <p:cNvSpPr/>
          <p:nvPr/>
        </p:nvSpPr>
        <p:spPr>
          <a:xfrm>
            <a:off x="411480" y="4956048"/>
            <a:ext cx="6035040" cy="4572"/>
          </a:xfrm>
          <a:prstGeom prst="rect">
            <a:avLst/>
          </a:prstGeom>
          <a:solidFill>
            <a:srgbClr val="9A9A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411480" y="5047488"/>
            <a:ext cx="603504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1">
                <a:solidFill>
                  <a:srgbClr val="5C5C5C"/>
                </a:solidFill>
                <a:latin typeface="Calibri"/>
              </a:rPr>
              <a:t>RECENT PERFORMANCE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411480" y="5321808"/>
            <a:ext cx="914399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0">
                <a:solidFill>
                  <a:srgbClr val="9A9A9A"/>
                </a:solidFill>
                <a:latin typeface="Calibri"/>
              </a:rPr>
              <a:t>1 DAY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411480" y="5504688"/>
            <a:ext cx="914399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2F7D4F"/>
                </a:solidFill>
                <a:latin typeface="Calibri"/>
              </a:rPr>
              <a:t>+1.2%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417319" y="5321808"/>
            <a:ext cx="914399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0">
                <a:solidFill>
                  <a:srgbClr val="9A9A9A"/>
                </a:solidFill>
                <a:latin typeface="Calibri"/>
              </a:rPr>
              <a:t>1 WEEK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417319" y="5504688"/>
            <a:ext cx="914399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B83227"/>
                </a:solidFill>
                <a:latin typeface="Calibri"/>
              </a:rPr>
              <a:t>-0.1%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2423160" y="5321808"/>
            <a:ext cx="914399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0">
                <a:solidFill>
                  <a:srgbClr val="9A9A9A"/>
                </a:solidFill>
                <a:latin typeface="Calibri"/>
              </a:rPr>
              <a:t>1 MONTH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2423160" y="5504688"/>
            <a:ext cx="914399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B83227"/>
                </a:solidFill>
                <a:latin typeface="Calibri"/>
              </a:rPr>
              <a:t>-5.6%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3429000" y="5321808"/>
            <a:ext cx="914399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0">
                <a:solidFill>
                  <a:srgbClr val="9A9A9A"/>
                </a:solidFill>
                <a:latin typeface="Calibri"/>
              </a:rPr>
              <a:t>3 MONTHS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3429000" y="5504688"/>
            <a:ext cx="914399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B83227"/>
                </a:solidFill>
                <a:latin typeface="Calibri"/>
              </a:rPr>
              <a:t>-17.1%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4434840" y="5321808"/>
            <a:ext cx="914399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0">
                <a:solidFill>
                  <a:srgbClr val="9A9A9A"/>
                </a:solidFill>
                <a:latin typeface="Calibri"/>
              </a:rPr>
              <a:t>6 MONTHS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4434840" y="5504688"/>
            <a:ext cx="914399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B83227"/>
                </a:solidFill>
                <a:latin typeface="Calibri"/>
              </a:rPr>
              <a:t>-26.4%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5440679" y="5321808"/>
            <a:ext cx="914399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0">
                <a:solidFill>
                  <a:srgbClr val="9A9A9A"/>
                </a:solidFill>
                <a:latin typeface="Calibri"/>
              </a:rPr>
              <a:t>YTD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5440679" y="5504688"/>
            <a:ext cx="914399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B83227"/>
                </a:solidFill>
                <a:latin typeface="Calibri"/>
              </a:rPr>
              <a:t>-25.8%</a:t>
            </a:r>
          </a:p>
        </p:txBody>
      </p:sp>
      <p:sp>
        <p:nvSpPr>
          <p:cNvPr id="53" name="Rectangle 52"/>
          <p:cNvSpPr/>
          <p:nvPr/>
        </p:nvSpPr>
        <p:spPr>
          <a:xfrm>
            <a:off x="411480" y="5907024"/>
            <a:ext cx="6035040" cy="4572"/>
          </a:xfrm>
          <a:prstGeom prst="rect">
            <a:avLst/>
          </a:prstGeom>
          <a:solidFill>
            <a:srgbClr val="9A9A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411480" y="5998464"/>
            <a:ext cx="603504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1">
                <a:solidFill>
                  <a:srgbClr val="5C5C5C"/>
                </a:solidFill>
                <a:latin typeface="Calibri"/>
              </a:rPr>
              <a:t>52-WEEK RANGE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411480" y="6309359"/>
            <a:ext cx="82296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5C5C5C"/>
                </a:solidFill>
                <a:latin typeface="Calibri"/>
              </a:rPr>
              <a:t>CNY 457.20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5623559" y="6309359"/>
            <a:ext cx="82296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>
                <a:solidFill>
                  <a:srgbClr val="5C5C5C"/>
                </a:solidFill>
                <a:latin typeface="Calibri"/>
              </a:rPr>
              <a:t>CNY 677.50</a:t>
            </a:r>
          </a:p>
        </p:txBody>
      </p:sp>
      <p:sp>
        <p:nvSpPr>
          <p:cNvPr id="57" name="Rectangle 56"/>
          <p:cNvSpPr/>
          <p:nvPr/>
        </p:nvSpPr>
        <p:spPr>
          <a:xfrm>
            <a:off x="1280160" y="6400799"/>
            <a:ext cx="4297679" cy="54864"/>
          </a:xfrm>
          <a:prstGeom prst="rect">
            <a:avLst/>
          </a:prstGeom>
          <a:solidFill>
            <a:srgbClr val="9A9A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Rectangle 57"/>
          <p:cNvSpPr/>
          <p:nvPr/>
        </p:nvSpPr>
        <p:spPr>
          <a:xfrm>
            <a:off x="1280160" y="6400799"/>
            <a:ext cx="18288" cy="54864"/>
          </a:xfrm>
          <a:prstGeom prst="rect">
            <a:avLst/>
          </a:prstGeom>
          <a:solidFill>
            <a:srgbClr val="A288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Diamond 58"/>
          <p:cNvSpPr/>
          <p:nvPr/>
        </p:nvSpPr>
        <p:spPr>
          <a:xfrm>
            <a:off x="1197863" y="6345936"/>
            <a:ext cx="164592" cy="164592"/>
          </a:xfrm>
          <a:prstGeom prst="diamond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640080" y="6565392"/>
            <a:ext cx="128016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900" b="0">
                <a:solidFill>
                  <a:srgbClr val="1A1A1A"/>
                </a:solidFill>
                <a:latin typeface="Calibri"/>
              </a:rPr>
              <a:t>Current  CNY 457.20</a:t>
            </a:r>
          </a:p>
        </p:txBody>
      </p:sp>
      <p:sp>
        <p:nvSpPr>
          <p:cNvPr id="61" name="Rectangle 60"/>
          <p:cNvSpPr/>
          <p:nvPr/>
        </p:nvSpPr>
        <p:spPr>
          <a:xfrm>
            <a:off x="411480" y="6967728"/>
            <a:ext cx="6035040" cy="4572"/>
          </a:xfrm>
          <a:prstGeom prst="rect">
            <a:avLst/>
          </a:prstGeom>
          <a:solidFill>
            <a:srgbClr val="9A9A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411480" y="7059168"/>
            <a:ext cx="603504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1">
                <a:solidFill>
                  <a:srgbClr val="5C5C5C"/>
                </a:solidFill>
                <a:latin typeface="Calibri"/>
              </a:rPr>
              <a:t>ANALYST HIGHLIGHTS  ·  KEY POINTS</a:t>
            </a:r>
          </a:p>
        </p:txBody>
      </p:sp>
      <p:sp>
        <p:nvSpPr>
          <p:cNvPr id="63" name="Rectangle 62"/>
          <p:cNvSpPr/>
          <p:nvPr/>
        </p:nvSpPr>
        <p:spPr>
          <a:xfrm>
            <a:off x="411480" y="7424928"/>
            <a:ext cx="777240" cy="201168"/>
          </a:xfrm>
          <a:prstGeom prst="rect">
            <a:avLst/>
          </a:prstGeom>
          <a:solidFill>
            <a:srgbClr val="EFE8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411480" y="7424928"/>
            <a:ext cx="777240" cy="2011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800" b="1">
                <a:solidFill>
                  <a:srgbClr val="5C5C5C"/>
                </a:solidFill>
                <a:latin typeface="Calibri"/>
              </a:rPr>
              <a:t>EARNINGS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1307592" y="7406640"/>
            <a:ext cx="5138927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1A1A1A"/>
                </a:solidFill>
                <a:latin typeface="Calibri"/>
              </a:rPr>
              <a:t>Awaiting next print; consensus updates trickling in.</a:t>
            </a:r>
          </a:p>
        </p:txBody>
      </p:sp>
      <p:sp>
        <p:nvSpPr>
          <p:cNvPr id="66" name="Rectangle 65"/>
          <p:cNvSpPr/>
          <p:nvPr/>
        </p:nvSpPr>
        <p:spPr>
          <a:xfrm>
            <a:off x="411480" y="7808976"/>
            <a:ext cx="777240" cy="201168"/>
          </a:xfrm>
          <a:prstGeom prst="rect">
            <a:avLst/>
          </a:prstGeom>
          <a:solidFill>
            <a:srgbClr val="EFE8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411480" y="7808976"/>
            <a:ext cx="777240" cy="2011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800" b="1">
                <a:solidFill>
                  <a:srgbClr val="5C5C5C"/>
                </a:solidFill>
                <a:latin typeface="Calibri"/>
              </a:rPr>
              <a:t>VALUATION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1307592" y="7790688"/>
            <a:ext cx="5138927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1A1A1A"/>
                </a:solidFill>
                <a:latin typeface="Calibri"/>
              </a:rPr>
              <a:t>Multiple sits in mid-range vs. 5-year history.</a:t>
            </a:r>
          </a:p>
        </p:txBody>
      </p:sp>
      <p:sp>
        <p:nvSpPr>
          <p:cNvPr id="69" name="Rectangle 68"/>
          <p:cNvSpPr/>
          <p:nvPr/>
        </p:nvSpPr>
        <p:spPr>
          <a:xfrm>
            <a:off x="411480" y="8193024"/>
            <a:ext cx="777240" cy="201168"/>
          </a:xfrm>
          <a:prstGeom prst="rect">
            <a:avLst/>
          </a:prstGeom>
          <a:solidFill>
            <a:srgbClr val="EFE8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TextBox 69"/>
          <p:cNvSpPr txBox="1"/>
          <p:nvPr/>
        </p:nvSpPr>
        <p:spPr>
          <a:xfrm>
            <a:off x="411480" y="8193024"/>
            <a:ext cx="777240" cy="2011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800" b="1">
                <a:solidFill>
                  <a:srgbClr val="5C5C5C"/>
                </a:solidFill>
                <a:latin typeface="Calibri"/>
              </a:rPr>
              <a:t>POSITIONING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1307592" y="8174736"/>
            <a:ext cx="5138927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1A1A1A"/>
                </a:solidFill>
                <a:latin typeface="Calibri"/>
              </a:rPr>
              <a:t>Dividend yield in line with sector peers.</a:t>
            </a:r>
          </a:p>
        </p:txBody>
      </p:sp>
      <p:sp>
        <p:nvSpPr>
          <p:cNvPr id="72" name="Rectangle 71"/>
          <p:cNvSpPr/>
          <p:nvPr/>
        </p:nvSpPr>
        <p:spPr>
          <a:xfrm>
            <a:off x="411480" y="8577072"/>
            <a:ext cx="777240" cy="201168"/>
          </a:xfrm>
          <a:prstGeom prst="rect">
            <a:avLst/>
          </a:prstGeom>
          <a:solidFill>
            <a:srgbClr val="EFE8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TextBox 72"/>
          <p:cNvSpPr txBox="1"/>
          <p:nvPr/>
        </p:nvSpPr>
        <p:spPr>
          <a:xfrm>
            <a:off x="411480" y="8577072"/>
            <a:ext cx="777240" cy="2011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800" b="1">
                <a:solidFill>
                  <a:srgbClr val="5C5C5C"/>
                </a:solidFill>
                <a:latin typeface="Calibri"/>
              </a:rPr>
              <a:t>WATCH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1307592" y="8558784"/>
            <a:ext cx="5138927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1A1A1A"/>
                </a:solidFill>
                <a:latin typeface="Calibri"/>
              </a:rPr>
              <a:t>Management commentary on forward demand is key.</a:t>
            </a:r>
          </a:p>
        </p:txBody>
      </p:sp>
      <p:sp>
        <p:nvSpPr>
          <p:cNvPr id="75" name="Rectangle 74"/>
          <p:cNvSpPr/>
          <p:nvPr/>
        </p:nvSpPr>
        <p:spPr>
          <a:xfrm>
            <a:off x="411480" y="8961120"/>
            <a:ext cx="777240" cy="201168"/>
          </a:xfrm>
          <a:prstGeom prst="rect">
            <a:avLst/>
          </a:prstGeom>
          <a:solidFill>
            <a:srgbClr val="EFE8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TextBox 75"/>
          <p:cNvSpPr txBox="1"/>
          <p:nvPr/>
        </p:nvSpPr>
        <p:spPr>
          <a:xfrm>
            <a:off x="411480" y="8961120"/>
            <a:ext cx="777240" cy="2011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800" b="1">
                <a:solidFill>
                  <a:srgbClr val="5C5C5C"/>
                </a:solidFill>
                <a:latin typeface="Calibri"/>
              </a:rPr>
              <a:t>RISK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1307592" y="8942832"/>
            <a:ext cx="5138927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1A1A1A"/>
                </a:solidFill>
                <a:latin typeface="Calibri"/>
              </a:rPr>
              <a:t>Macro and feedstock-cost volatility remain top risks.</a:t>
            </a:r>
          </a:p>
        </p:txBody>
      </p:sp>
      <p:sp>
        <p:nvSpPr>
          <p:cNvPr id="78" name="Rectangle 77"/>
          <p:cNvSpPr/>
          <p:nvPr/>
        </p:nvSpPr>
        <p:spPr>
          <a:xfrm>
            <a:off x="411480" y="11402568"/>
            <a:ext cx="6035040" cy="4572"/>
          </a:xfrm>
          <a:prstGeom prst="rect">
            <a:avLst/>
          </a:prstGeom>
          <a:solidFill>
            <a:srgbClr val="9A9A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TextBox 78"/>
          <p:cNvSpPr txBox="1"/>
          <p:nvPr/>
        </p:nvSpPr>
        <p:spPr>
          <a:xfrm>
            <a:off x="411480" y="11466576"/>
            <a:ext cx="603504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0">
                <a:solidFill>
                  <a:srgbClr val="5C5C5C"/>
                </a:solidFill>
                <a:latin typeface="Calibri"/>
              </a:rPr>
              <a:t>Source: investing, marketscreener, yahoo  |  Generated 13 May 2026  |  Analyst: Jabal Research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411480" y="11795760"/>
            <a:ext cx="502920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0">
                <a:solidFill>
                  <a:srgbClr val="5C5C5C"/>
                </a:solidFill>
                <a:latin typeface="Calibri"/>
              </a:rPr>
              <a:t>Jabal Asset Management  ·  Regulated by the Financial Services Authority of Oman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5532120" y="11795760"/>
            <a:ext cx="91440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50" b="0">
                <a:solidFill>
                  <a:srgbClr val="5C5C5C"/>
                </a:solidFill>
                <a:latin typeface="Calibri"/>
              </a:rPr>
              <a:t>1 / 3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411480" y="11960352"/>
            <a:ext cx="603504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750" b="0">
                <a:solidFill>
                  <a:srgbClr val="9A9A9A"/>
                </a:solidFill>
                <a:latin typeface="Calibri"/>
              </a:rPr>
              <a:t>CONFIDENTIAL  ·  FOR INSTITUTIONAL &amp; QUALIFIED INVESTORS ONLY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92608"/>
            <a:ext cx="13716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>
                <a:solidFill>
                  <a:srgbClr val="1A1A1A"/>
                </a:solidFill>
                <a:latin typeface="Georgia"/>
              </a:rPr>
              <a:t>JABAL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11480" y="530352"/>
            <a:ext cx="182880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0">
                <a:solidFill>
                  <a:srgbClr val="5C5C5C"/>
                </a:solidFill>
                <a:latin typeface="Calibri"/>
              </a:rPr>
              <a:t>ASSET MANAGEMENT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88920" y="329184"/>
            <a:ext cx="36576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>
                <a:solidFill>
                  <a:srgbClr val="1A1A1A"/>
                </a:solidFill>
                <a:latin typeface="Calibri"/>
              </a:rPr>
              <a:t>PAGE 2  ·  THESIS &amp; EXPECTATIONS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88920" y="530352"/>
            <a:ext cx="365760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50" b="0">
                <a:solidFill>
                  <a:srgbClr val="9A9A9A"/>
                </a:solidFill>
                <a:latin typeface="Calibri"/>
              </a:rPr>
              <a:t>INSTITUTIONAL RESEARCH  ·  EQUITY</a:t>
            </a:r>
          </a:p>
        </p:txBody>
      </p:sp>
      <p:sp>
        <p:nvSpPr>
          <p:cNvPr id="6" name="Rectangle 5"/>
          <p:cNvSpPr/>
          <p:nvPr/>
        </p:nvSpPr>
        <p:spPr>
          <a:xfrm>
            <a:off x="411480" y="804672"/>
            <a:ext cx="6035040" cy="4572"/>
          </a:xfrm>
          <a:prstGeom prst="rect">
            <a:avLst/>
          </a:prstGeom>
          <a:solidFill>
            <a:srgbClr val="9A9A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11480" y="987552"/>
            <a:ext cx="6035040" cy="4572"/>
          </a:xfrm>
          <a:prstGeom prst="rect">
            <a:avLst/>
          </a:prstGeom>
          <a:solidFill>
            <a:srgbClr val="9A9A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11480" y="1078992"/>
            <a:ext cx="603504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1">
                <a:solidFill>
                  <a:srgbClr val="5C5C5C"/>
                </a:solidFill>
                <a:latin typeface="Calibri"/>
              </a:rPr>
              <a:t>INVESTMENT THESIS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11480" y="1280160"/>
            <a:ext cx="603504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700" b="0">
                <a:solidFill>
                  <a:srgbClr val="1A1A1A"/>
                </a:solidFill>
                <a:latin typeface="Georgia"/>
              </a:rPr>
              <a:t>Executive Summary</a:t>
            </a:r>
          </a:p>
        </p:txBody>
      </p:sp>
      <p:sp>
        <p:nvSpPr>
          <p:cNvPr id="10" name="Rectangle 9"/>
          <p:cNvSpPr/>
          <p:nvPr/>
        </p:nvSpPr>
        <p:spPr>
          <a:xfrm>
            <a:off x="411480" y="1792224"/>
            <a:ext cx="6035040" cy="1691640"/>
          </a:xfrm>
          <a:prstGeom prst="rect">
            <a:avLst/>
          </a:prstGeom>
          <a:solidFill>
            <a:srgbClr val="EFE8DC"/>
          </a:solidFill>
          <a:ln w="6350">
            <a:solidFill>
              <a:srgbClr val="9A9A9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11480" y="1792224"/>
            <a:ext cx="45720" cy="1691640"/>
          </a:xfrm>
          <a:prstGeom prst="rect">
            <a:avLst/>
          </a:prstGeom>
          <a:solidFill>
            <a:srgbClr val="A288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94360" y="1883664"/>
            <a:ext cx="5742431" cy="1508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1A1A1A"/>
                </a:solidFill>
                <a:latin typeface="Calibri"/>
              </a:rPr>
              <a:t>Jabal maintains a constructive view into the upcoming print. Tencent Holdings Limited sits in the Communication Services sector (Internet Content &amp; Information). Street consensus is buy (46 analysts covering); consensus target 725.47. The shares trade at a P/E around 11.8x trailing earnings. Macro context: local-economy GDP growth recently at 2.5%. The thesis hinges on three factors: demand trajectory through H2, feedstock/input-cost discipline, and management's tone on guidance during the call. We expect the print itself to be within consensus bounds; the read on forward commentary is the swing factor.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11480" y="3621024"/>
            <a:ext cx="6035040" cy="4572"/>
          </a:xfrm>
          <a:prstGeom prst="rect">
            <a:avLst/>
          </a:prstGeom>
          <a:solidFill>
            <a:srgbClr val="9A9A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11480" y="3712463"/>
            <a:ext cx="603504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1">
                <a:solidFill>
                  <a:srgbClr val="5C5C5C"/>
                </a:solidFill>
                <a:latin typeface="Calibri"/>
              </a:rPr>
              <a:t>Q2 2026 EARNINGS EXPECTATIONS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11480" y="3895344"/>
            <a:ext cx="603504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5C5C5C"/>
                </a:solidFill>
                <a:latin typeface="Calibri"/>
              </a:rPr>
              <a:t>Jabal estimates vs. consensus  ·  Local currency unless stated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11480" y="4096512"/>
            <a:ext cx="21488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0">
                <a:solidFill>
                  <a:srgbClr val="9A9A9A"/>
                </a:solidFill>
                <a:latin typeface="Calibri"/>
              </a:rPr>
              <a:t>METRIC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606040" y="4096512"/>
            <a:ext cx="9601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50" b="0">
                <a:solidFill>
                  <a:srgbClr val="9A9A9A"/>
                </a:solidFill>
                <a:latin typeface="Calibri"/>
              </a:rPr>
              <a:t>JABAL EST.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611880" y="4096512"/>
            <a:ext cx="9601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50" b="0">
                <a:solidFill>
                  <a:srgbClr val="9A9A9A"/>
                </a:solidFill>
                <a:latin typeface="Calibri"/>
              </a:rPr>
              <a:t>CONSENSUS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617720" y="4096512"/>
            <a:ext cx="9601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50" b="0">
                <a:solidFill>
                  <a:srgbClr val="9A9A9A"/>
                </a:solidFill>
                <a:latin typeface="Calibri"/>
              </a:rPr>
              <a:t>Δ VS CONSENSUS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623560" y="4096512"/>
            <a:ext cx="7772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50" b="0">
                <a:solidFill>
                  <a:srgbClr val="9A9A9A"/>
                </a:solidFill>
                <a:latin typeface="Calibri"/>
              </a:rPr>
              <a:t>YOY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11480" y="4352544"/>
            <a:ext cx="6035040" cy="4572"/>
          </a:xfrm>
          <a:prstGeom prst="rect">
            <a:avLst/>
          </a:prstGeom>
          <a:solidFill>
            <a:srgbClr val="9A9A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11480" y="4370832"/>
            <a:ext cx="21488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1A1A1A"/>
                </a:solidFill>
                <a:latin typeface="Calibri"/>
              </a:rPr>
              <a:t>EPS — 03/2026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606040" y="4370832"/>
            <a:ext cx="9601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>
                <a:solidFill>
                  <a:srgbClr val="1A1A1A"/>
                </a:solidFill>
                <a:latin typeface="Calibri"/>
              </a:rPr>
              <a:t>—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611880" y="4370832"/>
            <a:ext cx="9601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>
                <a:solidFill>
                  <a:srgbClr val="1A1A1A"/>
                </a:solidFill>
                <a:latin typeface="Calibri"/>
              </a:rPr>
              <a:t>7.240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617720" y="4370832"/>
            <a:ext cx="9601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>
                <a:solidFill>
                  <a:srgbClr val="1A1A1A"/>
                </a:solidFill>
                <a:latin typeface="Calibri"/>
              </a:rPr>
              <a:t>—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623560" y="4370832"/>
            <a:ext cx="7772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>
                <a:solidFill>
                  <a:srgbClr val="1A1A1A"/>
                </a:solidFill>
                <a:latin typeface="Calibri"/>
              </a:rPr>
              <a:t>—</a:t>
            </a:r>
          </a:p>
        </p:txBody>
      </p:sp>
      <p:sp>
        <p:nvSpPr>
          <p:cNvPr id="27" name="Rectangle 26"/>
          <p:cNvSpPr/>
          <p:nvPr/>
        </p:nvSpPr>
        <p:spPr>
          <a:xfrm>
            <a:off x="411480" y="4626864"/>
            <a:ext cx="6035040" cy="274320"/>
          </a:xfrm>
          <a:prstGeom prst="rect">
            <a:avLst/>
          </a:prstGeom>
          <a:solidFill>
            <a:srgbClr val="EFE8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11480" y="4645152"/>
            <a:ext cx="21488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1A1A1A"/>
                </a:solidFill>
                <a:latin typeface="Calibri"/>
              </a:rPr>
              <a:t>Revenue — 03/2026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606040" y="4645152"/>
            <a:ext cx="9601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>
                <a:solidFill>
                  <a:srgbClr val="1A1A1A"/>
                </a:solidFill>
                <a:latin typeface="Calibri"/>
              </a:rPr>
              <a:t>—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611880" y="4645152"/>
            <a:ext cx="9601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>
                <a:solidFill>
                  <a:srgbClr val="1A1A1A"/>
                </a:solidFill>
                <a:latin typeface="Calibri"/>
              </a:rPr>
              <a:t>198.8B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617720" y="4645152"/>
            <a:ext cx="9601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>
                <a:solidFill>
                  <a:srgbClr val="1A1A1A"/>
                </a:solidFill>
                <a:latin typeface="Calibri"/>
              </a:rPr>
              <a:t>—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623560" y="4645152"/>
            <a:ext cx="7772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>
                <a:solidFill>
                  <a:srgbClr val="1A1A1A"/>
                </a:solidFill>
                <a:latin typeface="Calibri"/>
              </a:rPr>
              <a:t>—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11480" y="4919472"/>
            <a:ext cx="21488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1A1A1A"/>
                </a:solidFill>
                <a:latin typeface="Calibri"/>
              </a:rPr>
              <a:t>EPS (FY est.)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2606040" y="4919472"/>
            <a:ext cx="9601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>
                <a:solidFill>
                  <a:srgbClr val="1A1A1A"/>
                </a:solidFill>
                <a:latin typeface="Calibri"/>
              </a:rPr>
              <a:t>—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3611880" y="4919472"/>
            <a:ext cx="9601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>
                <a:solidFill>
                  <a:srgbClr val="1A1A1A"/>
                </a:solidFill>
                <a:latin typeface="Calibri"/>
              </a:rPr>
              <a:t>—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617720" y="4919472"/>
            <a:ext cx="9601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>
                <a:solidFill>
                  <a:srgbClr val="1A1A1A"/>
                </a:solidFill>
                <a:latin typeface="Calibri"/>
              </a:rPr>
              <a:t>—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623560" y="4919472"/>
            <a:ext cx="7772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>
                <a:solidFill>
                  <a:srgbClr val="1A1A1A"/>
                </a:solidFill>
                <a:latin typeface="Calibri"/>
              </a:rPr>
              <a:t>—</a:t>
            </a:r>
          </a:p>
        </p:txBody>
      </p:sp>
      <p:sp>
        <p:nvSpPr>
          <p:cNvPr id="38" name="Rectangle 37"/>
          <p:cNvSpPr/>
          <p:nvPr/>
        </p:nvSpPr>
        <p:spPr>
          <a:xfrm>
            <a:off x="411480" y="5175504"/>
            <a:ext cx="6035040" cy="274320"/>
          </a:xfrm>
          <a:prstGeom prst="rect">
            <a:avLst/>
          </a:prstGeom>
          <a:solidFill>
            <a:srgbClr val="EFE8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411480" y="5193792"/>
            <a:ext cx="21488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1A1A1A"/>
                </a:solidFill>
                <a:latin typeface="Calibri"/>
              </a:rPr>
              <a:t>Revenue (FY est.)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2606040" y="5193792"/>
            <a:ext cx="9601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>
                <a:solidFill>
                  <a:srgbClr val="1A1A1A"/>
                </a:solidFill>
                <a:latin typeface="Calibri"/>
              </a:rPr>
              <a:t>—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3611880" y="5193792"/>
            <a:ext cx="9601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>
                <a:solidFill>
                  <a:srgbClr val="1A1A1A"/>
                </a:solidFill>
                <a:latin typeface="Calibri"/>
              </a:rPr>
              <a:t>—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4617720" y="5193792"/>
            <a:ext cx="9601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>
                <a:solidFill>
                  <a:srgbClr val="1A1A1A"/>
                </a:solidFill>
                <a:latin typeface="Calibri"/>
              </a:rPr>
              <a:t>—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5623560" y="5193792"/>
            <a:ext cx="7772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>
                <a:solidFill>
                  <a:srgbClr val="1A1A1A"/>
                </a:solidFill>
                <a:latin typeface="Calibri"/>
              </a:rPr>
              <a:t>—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411480" y="5468112"/>
            <a:ext cx="21488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1A1A1A"/>
                </a:solidFill>
                <a:latin typeface="Calibri"/>
              </a:rPr>
              <a:t>Dividend yield (TTM)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2606040" y="5468112"/>
            <a:ext cx="9601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>
                <a:solidFill>
                  <a:srgbClr val="1A1A1A"/>
                </a:solidFill>
                <a:latin typeface="Calibri"/>
              </a:rPr>
              <a:t>—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3611880" y="5468112"/>
            <a:ext cx="9601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>
                <a:solidFill>
                  <a:srgbClr val="1A1A1A"/>
                </a:solidFill>
                <a:latin typeface="Calibri"/>
              </a:rPr>
              <a:t>1.76%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4617720" y="5468112"/>
            <a:ext cx="9601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>
                <a:solidFill>
                  <a:srgbClr val="1A1A1A"/>
                </a:solidFill>
                <a:latin typeface="Calibri"/>
              </a:rPr>
              <a:t>—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5623560" y="5468112"/>
            <a:ext cx="7772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>
                <a:solidFill>
                  <a:srgbClr val="1A1A1A"/>
                </a:solidFill>
                <a:latin typeface="Calibri"/>
              </a:rPr>
              <a:t>—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411480" y="6291072"/>
            <a:ext cx="603504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5C5C5C"/>
                </a:solidFill>
                <a:latin typeface="Calibri"/>
              </a:rPr>
              <a:t>Next print: May 13, 2026 (period 03/2026)  ·  Consensus: Investing  ·  46 analysts covering</a:t>
            </a:r>
          </a:p>
        </p:txBody>
      </p:sp>
      <p:sp>
        <p:nvSpPr>
          <p:cNvPr id="50" name="Rectangle 49"/>
          <p:cNvSpPr/>
          <p:nvPr/>
        </p:nvSpPr>
        <p:spPr>
          <a:xfrm>
            <a:off x="411480" y="6748272"/>
            <a:ext cx="2926079" cy="1783080"/>
          </a:xfrm>
          <a:prstGeom prst="rect">
            <a:avLst/>
          </a:prstGeom>
          <a:solidFill>
            <a:srgbClr val="FFFFFF"/>
          </a:solidFill>
          <a:ln w="6350">
            <a:solidFill>
              <a:srgbClr val="9A9A9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Rectangle 50"/>
          <p:cNvSpPr/>
          <p:nvPr/>
        </p:nvSpPr>
        <p:spPr>
          <a:xfrm>
            <a:off x="411480" y="6748272"/>
            <a:ext cx="45720" cy="1783080"/>
          </a:xfrm>
          <a:prstGeom prst="rect">
            <a:avLst/>
          </a:prstGeom>
          <a:solidFill>
            <a:srgbClr val="2F7D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576072" y="6821424"/>
            <a:ext cx="274319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1">
                <a:solidFill>
                  <a:srgbClr val="5C5C5C"/>
                </a:solidFill>
                <a:latin typeface="Calibri"/>
              </a:rPr>
              <a:t>CATALYSTS</a:t>
            </a:r>
          </a:p>
        </p:txBody>
      </p:sp>
      <p:sp>
        <p:nvSpPr>
          <p:cNvPr id="53" name="Oval 52"/>
          <p:cNvSpPr/>
          <p:nvPr/>
        </p:nvSpPr>
        <p:spPr>
          <a:xfrm>
            <a:off x="594360" y="7223759"/>
            <a:ext cx="109728" cy="109728"/>
          </a:xfrm>
          <a:prstGeom prst="ellipse">
            <a:avLst/>
          </a:prstGeom>
          <a:solidFill>
            <a:srgbClr val="2F7D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795528" y="7187184"/>
            <a:ext cx="2468879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1A1A1A"/>
                </a:solidFill>
                <a:latin typeface="Calibri"/>
              </a:rPr>
              <a:t>EPS missed consensus by 0.8% last quarter; 1 of last 4 quarters above estimates</a:t>
            </a:r>
          </a:p>
        </p:txBody>
      </p:sp>
      <p:sp>
        <p:nvSpPr>
          <p:cNvPr id="55" name="Oval 54"/>
          <p:cNvSpPr/>
          <p:nvPr/>
        </p:nvSpPr>
        <p:spPr>
          <a:xfrm>
            <a:off x="594360" y="7644383"/>
            <a:ext cx="109728" cy="109728"/>
          </a:xfrm>
          <a:prstGeom prst="ellipse">
            <a:avLst/>
          </a:prstGeom>
          <a:solidFill>
            <a:srgbClr val="2F7D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795528" y="7607808"/>
            <a:ext cx="2468879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1A1A1A"/>
                </a:solidFill>
                <a:latin typeface="Calibri"/>
              </a:rPr>
              <a:t>Constructive guidance on H2 demand and pricing outlook</a:t>
            </a:r>
          </a:p>
        </p:txBody>
      </p:sp>
      <p:sp>
        <p:nvSpPr>
          <p:cNvPr id="57" name="Oval 56"/>
          <p:cNvSpPr/>
          <p:nvPr/>
        </p:nvSpPr>
        <p:spPr>
          <a:xfrm>
            <a:off x="594360" y="8065008"/>
            <a:ext cx="109728" cy="109728"/>
          </a:xfrm>
          <a:prstGeom prst="ellipse">
            <a:avLst/>
          </a:prstGeom>
          <a:solidFill>
            <a:srgbClr val="2F7D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795528" y="8028432"/>
            <a:ext cx="2468879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1A1A1A"/>
                </a:solidFill>
                <a:latin typeface="Calibri"/>
              </a:rPr>
              <a:t>Capex/project milestones tracking on schedule</a:t>
            </a:r>
          </a:p>
        </p:txBody>
      </p:sp>
      <p:sp>
        <p:nvSpPr>
          <p:cNvPr id="59" name="Rectangle 58"/>
          <p:cNvSpPr/>
          <p:nvPr/>
        </p:nvSpPr>
        <p:spPr>
          <a:xfrm>
            <a:off x="3520440" y="6748272"/>
            <a:ext cx="2926079" cy="1783080"/>
          </a:xfrm>
          <a:prstGeom prst="rect">
            <a:avLst/>
          </a:prstGeom>
          <a:solidFill>
            <a:srgbClr val="FFFFFF"/>
          </a:solidFill>
          <a:ln w="6350">
            <a:solidFill>
              <a:srgbClr val="9A9A9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Rectangle 59"/>
          <p:cNvSpPr/>
          <p:nvPr/>
        </p:nvSpPr>
        <p:spPr>
          <a:xfrm>
            <a:off x="3520440" y="6748272"/>
            <a:ext cx="45720" cy="1783080"/>
          </a:xfrm>
          <a:prstGeom prst="rect">
            <a:avLst/>
          </a:prstGeom>
          <a:solidFill>
            <a:srgbClr val="B83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3685032" y="6821424"/>
            <a:ext cx="274319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1">
                <a:solidFill>
                  <a:srgbClr val="5C5C5C"/>
                </a:solidFill>
                <a:latin typeface="Calibri"/>
              </a:rPr>
              <a:t>KEY RISKS</a:t>
            </a:r>
          </a:p>
        </p:txBody>
      </p:sp>
      <p:sp>
        <p:nvSpPr>
          <p:cNvPr id="62" name="Oval 61"/>
          <p:cNvSpPr/>
          <p:nvPr/>
        </p:nvSpPr>
        <p:spPr>
          <a:xfrm>
            <a:off x="3703320" y="7223759"/>
            <a:ext cx="109728" cy="109728"/>
          </a:xfrm>
          <a:prstGeom prst="ellipse">
            <a:avLst/>
          </a:prstGeom>
          <a:solidFill>
            <a:srgbClr val="B832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3904488" y="7187184"/>
            <a:ext cx="2468879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1A1A1A"/>
                </a:solidFill>
                <a:latin typeface="Calibri"/>
              </a:rPr>
              <a:t>Cautious management tone could validate target-price gap</a:t>
            </a:r>
          </a:p>
        </p:txBody>
      </p:sp>
      <p:sp>
        <p:nvSpPr>
          <p:cNvPr id="64" name="Oval 63"/>
          <p:cNvSpPr/>
          <p:nvPr/>
        </p:nvSpPr>
        <p:spPr>
          <a:xfrm>
            <a:off x="3703320" y="7644383"/>
            <a:ext cx="109728" cy="109728"/>
          </a:xfrm>
          <a:prstGeom prst="ellipse">
            <a:avLst/>
          </a:prstGeom>
          <a:solidFill>
            <a:srgbClr val="B832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3904488" y="7607808"/>
            <a:ext cx="2468879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1A1A1A"/>
                </a:solidFill>
                <a:latin typeface="Calibri"/>
              </a:rPr>
              <a:t>Feedstock / input cost volatility pressures margin trajectory</a:t>
            </a:r>
          </a:p>
        </p:txBody>
      </p:sp>
      <p:sp>
        <p:nvSpPr>
          <p:cNvPr id="66" name="Oval 65"/>
          <p:cNvSpPr/>
          <p:nvPr/>
        </p:nvSpPr>
        <p:spPr>
          <a:xfrm>
            <a:off x="3703320" y="8065008"/>
            <a:ext cx="109728" cy="109728"/>
          </a:xfrm>
          <a:prstGeom prst="ellipse">
            <a:avLst/>
          </a:prstGeom>
          <a:solidFill>
            <a:srgbClr val="B832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3904488" y="8028432"/>
            <a:ext cx="2468879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1A1A1A"/>
                </a:solidFill>
                <a:latin typeface="Calibri"/>
              </a:rPr>
              <a:t>Macro / commodity-price softness weighs on top-line growth</a:t>
            </a:r>
          </a:p>
        </p:txBody>
      </p:sp>
      <p:sp>
        <p:nvSpPr>
          <p:cNvPr id="68" name="Rectangle 67"/>
          <p:cNvSpPr/>
          <p:nvPr/>
        </p:nvSpPr>
        <p:spPr>
          <a:xfrm>
            <a:off x="411480" y="8714232"/>
            <a:ext cx="6035040" cy="4572"/>
          </a:xfrm>
          <a:prstGeom prst="rect">
            <a:avLst/>
          </a:prstGeom>
          <a:solidFill>
            <a:srgbClr val="9A9A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411480" y="8805672"/>
            <a:ext cx="603504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1">
                <a:solidFill>
                  <a:srgbClr val="5C5C5C"/>
                </a:solidFill>
                <a:latin typeface="Calibri"/>
              </a:rPr>
              <a:t>WHAT TO WATCH ON THE PRINT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411480" y="8970264"/>
            <a:ext cx="2286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>
                <a:solidFill>
                  <a:srgbClr val="A28860"/>
                </a:solidFill>
                <a:latin typeface="Calibri"/>
              </a:rPr>
              <a:t>1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685800" y="8970264"/>
            <a:ext cx="576072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1A1A1A"/>
                </a:solidFill>
                <a:latin typeface="Calibri"/>
              </a:rPr>
              <a:t>Forward demand commentary — Q3 order book and pricing trajectory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411480" y="9217152"/>
            <a:ext cx="2286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>
                <a:solidFill>
                  <a:srgbClr val="A28860"/>
                </a:solidFill>
                <a:latin typeface="Calibri"/>
              </a:rPr>
              <a:t>2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685800" y="9217152"/>
            <a:ext cx="576072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1A1A1A"/>
                </a:solidFill>
                <a:latin typeface="Calibri"/>
              </a:rPr>
              <a:t>Feedstock cost outlook and supply-chain commentary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411480" y="9464040"/>
            <a:ext cx="2286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>
                <a:solidFill>
                  <a:srgbClr val="A28860"/>
                </a:solidFill>
                <a:latin typeface="Calibri"/>
              </a:rPr>
              <a:t>3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685800" y="9464040"/>
            <a:ext cx="576072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1A1A1A"/>
                </a:solidFill>
                <a:latin typeface="Calibri"/>
              </a:rPr>
              <a:t>Updated capex schedule and any project-pipeline updates</a:t>
            </a:r>
          </a:p>
        </p:txBody>
      </p:sp>
      <p:sp>
        <p:nvSpPr>
          <p:cNvPr id="76" name="Rectangle 75"/>
          <p:cNvSpPr/>
          <p:nvPr/>
        </p:nvSpPr>
        <p:spPr>
          <a:xfrm>
            <a:off x="411480" y="11402568"/>
            <a:ext cx="6035040" cy="4572"/>
          </a:xfrm>
          <a:prstGeom prst="rect">
            <a:avLst/>
          </a:prstGeom>
          <a:solidFill>
            <a:srgbClr val="9A9A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TextBox 76"/>
          <p:cNvSpPr txBox="1"/>
          <p:nvPr/>
        </p:nvSpPr>
        <p:spPr>
          <a:xfrm>
            <a:off x="411480" y="11466576"/>
            <a:ext cx="603504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0">
                <a:solidFill>
                  <a:srgbClr val="5C5C5C"/>
                </a:solidFill>
                <a:latin typeface="Calibri"/>
              </a:rPr>
              <a:t>Source: investing, marketscreener, yahoo  |  Generated 13 May 2026  |  Analyst: Jabal Research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411480" y="11795760"/>
            <a:ext cx="502920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0">
                <a:solidFill>
                  <a:srgbClr val="5C5C5C"/>
                </a:solidFill>
                <a:latin typeface="Calibri"/>
              </a:rPr>
              <a:t>Jabal Asset Management  ·  Regulated by the Financial Services Authority of Oman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5532120" y="11795760"/>
            <a:ext cx="91440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50" b="0">
                <a:solidFill>
                  <a:srgbClr val="5C5C5C"/>
                </a:solidFill>
                <a:latin typeface="Calibri"/>
              </a:rPr>
              <a:t>2 / 3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411480" y="11960352"/>
            <a:ext cx="603504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750" b="0">
                <a:solidFill>
                  <a:srgbClr val="9A9A9A"/>
                </a:solidFill>
                <a:latin typeface="Calibri"/>
              </a:rPr>
              <a:t>CONFIDENTIAL  ·  FOR INSTITUTIONAL &amp; QUALIFIED INVESTORS ONLY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92608"/>
            <a:ext cx="13716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>
                <a:solidFill>
                  <a:srgbClr val="1A1A1A"/>
                </a:solidFill>
                <a:latin typeface="Georgia"/>
              </a:rPr>
              <a:t>JABAL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11480" y="530352"/>
            <a:ext cx="182880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0">
                <a:solidFill>
                  <a:srgbClr val="5C5C5C"/>
                </a:solidFill>
                <a:latin typeface="Calibri"/>
              </a:rPr>
              <a:t>ASSET MANAGEMENT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88920" y="329184"/>
            <a:ext cx="36576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>
                <a:solidFill>
                  <a:srgbClr val="1A1A1A"/>
                </a:solidFill>
                <a:latin typeface="Calibri"/>
              </a:rPr>
              <a:t>PAGE 3  ·  VALUATION &amp; POSITIONING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88920" y="530352"/>
            <a:ext cx="365760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50" b="0">
                <a:solidFill>
                  <a:srgbClr val="9A9A9A"/>
                </a:solidFill>
                <a:latin typeface="Calibri"/>
              </a:rPr>
              <a:t>INSTITUTIONAL RESEARCH  ·  EQUITY</a:t>
            </a:r>
          </a:p>
        </p:txBody>
      </p:sp>
      <p:sp>
        <p:nvSpPr>
          <p:cNvPr id="6" name="Rectangle 5"/>
          <p:cNvSpPr/>
          <p:nvPr/>
        </p:nvSpPr>
        <p:spPr>
          <a:xfrm>
            <a:off x="411480" y="804672"/>
            <a:ext cx="6035040" cy="4572"/>
          </a:xfrm>
          <a:prstGeom prst="rect">
            <a:avLst/>
          </a:prstGeom>
          <a:solidFill>
            <a:srgbClr val="9A9A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11480" y="987552"/>
            <a:ext cx="6035040" cy="4572"/>
          </a:xfrm>
          <a:prstGeom prst="rect">
            <a:avLst/>
          </a:prstGeom>
          <a:solidFill>
            <a:srgbClr val="9A9A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11480" y="1078992"/>
            <a:ext cx="603504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1">
                <a:solidFill>
                  <a:srgbClr val="5C5C5C"/>
                </a:solidFill>
                <a:latin typeface="Calibri"/>
              </a:rPr>
              <a:t>MARKET POSITIONING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11480" y="1280160"/>
            <a:ext cx="603504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700" b="0">
                <a:solidFill>
                  <a:srgbClr val="1A1A1A"/>
                </a:solidFill>
                <a:latin typeface="Georgia"/>
              </a:rPr>
              <a:t>Valuation &amp; Market View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11480" y="1792224"/>
            <a:ext cx="2926079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1">
                <a:solidFill>
                  <a:srgbClr val="9A9A9A"/>
                </a:solidFill>
                <a:latin typeface="Calibri"/>
              </a:rPr>
              <a:t>52-WEEK PRICE  ·  CNY</a:t>
            </a:r>
          </a:p>
        </p:txBody>
      </p:sp>
      <p:graphicFrame>
        <p:nvGraphicFramePr>
          <p:cNvPr id="11" name="Chart 10"/>
          <p:cNvGraphicFramePr>
            <a:graphicFrameLocks noGrp="1"/>
          </p:cNvGraphicFramePr>
          <p:nvPr/>
        </p:nvGraphicFramePr>
        <p:xfrm>
          <a:off x="411480" y="2029967"/>
          <a:ext cx="2926079" cy="192024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12" name="TextBox 11"/>
          <p:cNvSpPr txBox="1"/>
          <p:nvPr/>
        </p:nvSpPr>
        <p:spPr>
          <a:xfrm>
            <a:off x="3520440" y="1792224"/>
            <a:ext cx="2926079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1">
                <a:solidFill>
                  <a:srgbClr val="9A9A9A"/>
                </a:solidFill>
                <a:latin typeface="Calibri"/>
              </a:rPr>
              <a:t>P/E MULTIPLE  ·  5-YEAR RANGE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520440" y="2066543"/>
            <a:ext cx="50292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1A1A1A"/>
                </a:solidFill>
                <a:latin typeface="Calibri"/>
              </a:rPr>
              <a:t>FY2021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023360" y="2121408"/>
            <a:ext cx="951547" cy="73152"/>
          </a:xfrm>
          <a:prstGeom prst="rect">
            <a:avLst/>
          </a:prstGeom>
          <a:solidFill>
            <a:srgbClr val="EFE8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4929187" y="2103120"/>
            <a:ext cx="91440" cy="109728"/>
          </a:xfrm>
          <a:prstGeom prst="ellipse">
            <a:avLst/>
          </a:prstGeom>
          <a:solidFill>
            <a:srgbClr val="7E68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020627" y="2084831"/>
            <a:ext cx="41148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1A1A1A"/>
                </a:solidFill>
                <a:latin typeface="Calibri"/>
              </a:rPr>
              <a:t>16.1x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520440" y="2340863"/>
            <a:ext cx="50292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1A1A1A"/>
                </a:solidFill>
                <a:latin typeface="Calibri"/>
              </a:rPr>
              <a:t>FY2022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023360" y="2395727"/>
            <a:ext cx="837247" cy="73152"/>
          </a:xfrm>
          <a:prstGeom prst="rect">
            <a:avLst/>
          </a:prstGeom>
          <a:solidFill>
            <a:srgbClr val="EFE8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4814887" y="2377439"/>
            <a:ext cx="91440" cy="109728"/>
          </a:xfrm>
          <a:prstGeom prst="ellipse">
            <a:avLst/>
          </a:prstGeom>
          <a:solidFill>
            <a:srgbClr val="7E68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906327" y="2359151"/>
            <a:ext cx="41148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1A1A1A"/>
                </a:solidFill>
                <a:latin typeface="Calibri"/>
              </a:rPr>
              <a:t>15.3x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520440" y="2615184"/>
            <a:ext cx="50292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1A1A1A"/>
                </a:solidFill>
                <a:latin typeface="Calibri"/>
              </a:rPr>
              <a:t>FY2023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023360" y="2670048"/>
            <a:ext cx="1851660" cy="73152"/>
          </a:xfrm>
          <a:prstGeom prst="rect">
            <a:avLst/>
          </a:prstGeom>
          <a:solidFill>
            <a:srgbClr val="EFE8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5829300" y="2651760"/>
            <a:ext cx="91440" cy="109728"/>
          </a:xfrm>
          <a:prstGeom prst="ellipse">
            <a:avLst/>
          </a:prstGeom>
          <a:solidFill>
            <a:srgbClr val="7E68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920740" y="2633472"/>
            <a:ext cx="41148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1A1A1A"/>
                </a:solidFill>
                <a:latin typeface="Calibri"/>
              </a:rPr>
              <a:t>22.4x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520440" y="2889503"/>
            <a:ext cx="50292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1A1A1A"/>
                </a:solidFill>
                <a:latin typeface="Calibri"/>
              </a:rPr>
              <a:t>FY2024</a:t>
            </a:r>
          </a:p>
        </p:txBody>
      </p:sp>
      <p:sp>
        <p:nvSpPr>
          <p:cNvPr id="26" name="Rectangle 25"/>
          <p:cNvSpPr/>
          <p:nvPr/>
        </p:nvSpPr>
        <p:spPr>
          <a:xfrm>
            <a:off x="4023360" y="2944368"/>
            <a:ext cx="1380172" cy="73152"/>
          </a:xfrm>
          <a:prstGeom prst="rect">
            <a:avLst/>
          </a:prstGeom>
          <a:solidFill>
            <a:srgbClr val="EFE8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5357812" y="2926079"/>
            <a:ext cx="91440" cy="109728"/>
          </a:xfrm>
          <a:prstGeom prst="ellipse">
            <a:avLst/>
          </a:prstGeom>
          <a:solidFill>
            <a:srgbClr val="7E68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5449252" y="2907791"/>
            <a:ext cx="41148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1A1A1A"/>
                </a:solidFill>
                <a:latin typeface="Calibri"/>
              </a:rPr>
              <a:t>19.1x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520440" y="3163824"/>
            <a:ext cx="50292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1A1A1A"/>
                </a:solidFill>
                <a:latin typeface="Calibri"/>
              </a:rPr>
              <a:t>FY2025</a:t>
            </a:r>
          </a:p>
        </p:txBody>
      </p:sp>
      <p:sp>
        <p:nvSpPr>
          <p:cNvPr id="30" name="Rectangle 29"/>
          <p:cNvSpPr/>
          <p:nvPr/>
        </p:nvSpPr>
        <p:spPr>
          <a:xfrm>
            <a:off x="4023360" y="3218688"/>
            <a:ext cx="1837372" cy="73152"/>
          </a:xfrm>
          <a:prstGeom prst="rect">
            <a:avLst/>
          </a:prstGeom>
          <a:solidFill>
            <a:srgbClr val="EFE8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5815012" y="3200400"/>
            <a:ext cx="91440" cy="109728"/>
          </a:xfrm>
          <a:prstGeom prst="ellipse">
            <a:avLst/>
          </a:prstGeom>
          <a:solidFill>
            <a:srgbClr val="7E68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906452" y="3182112"/>
            <a:ext cx="41148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1A1A1A"/>
                </a:solidFill>
                <a:latin typeface="Calibri"/>
              </a:rPr>
              <a:t>22.3x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3520440" y="3438144"/>
            <a:ext cx="50292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1A1A1A"/>
                </a:solidFill>
                <a:latin typeface="Calibri"/>
              </a:rPr>
              <a:t>FY2026</a:t>
            </a:r>
          </a:p>
        </p:txBody>
      </p:sp>
      <p:sp>
        <p:nvSpPr>
          <p:cNvPr id="34" name="Rectangle 33"/>
          <p:cNvSpPr/>
          <p:nvPr/>
        </p:nvSpPr>
        <p:spPr>
          <a:xfrm>
            <a:off x="4023360" y="3493008"/>
            <a:ext cx="822959" cy="73152"/>
          </a:xfrm>
          <a:prstGeom prst="rect">
            <a:avLst/>
          </a:prstGeom>
          <a:solidFill>
            <a:srgbClr val="EFE8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Oval 34"/>
          <p:cNvSpPr/>
          <p:nvPr/>
        </p:nvSpPr>
        <p:spPr>
          <a:xfrm>
            <a:off x="4800600" y="3474720"/>
            <a:ext cx="91440" cy="109728"/>
          </a:xfrm>
          <a:prstGeom prst="ellipse">
            <a:avLst/>
          </a:prstGeom>
          <a:solidFill>
            <a:srgbClr val="7E68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4892040" y="3456432"/>
            <a:ext cx="41148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1A1A1A"/>
                </a:solidFill>
                <a:latin typeface="Calibri"/>
              </a:rPr>
              <a:t>15.2x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520440" y="3712463"/>
            <a:ext cx="50292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1A1A1A"/>
                </a:solidFill>
                <a:latin typeface="Calibri"/>
              </a:rPr>
              <a:t>FY2027</a:t>
            </a:r>
          </a:p>
        </p:txBody>
      </p:sp>
      <p:sp>
        <p:nvSpPr>
          <p:cNvPr id="38" name="Rectangle 37"/>
          <p:cNvSpPr/>
          <p:nvPr/>
        </p:nvSpPr>
        <p:spPr>
          <a:xfrm>
            <a:off x="4023360" y="3767327"/>
            <a:ext cx="551497" cy="73152"/>
          </a:xfrm>
          <a:prstGeom prst="rect">
            <a:avLst/>
          </a:prstGeom>
          <a:solidFill>
            <a:srgbClr val="EFE8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Oval 38"/>
          <p:cNvSpPr/>
          <p:nvPr/>
        </p:nvSpPr>
        <p:spPr>
          <a:xfrm>
            <a:off x="4529137" y="3749039"/>
            <a:ext cx="91440" cy="109728"/>
          </a:xfrm>
          <a:prstGeom prst="ellipse">
            <a:avLst/>
          </a:prstGeom>
          <a:solidFill>
            <a:srgbClr val="7E68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4620577" y="3730751"/>
            <a:ext cx="41148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1A1A1A"/>
                </a:solidFill>
                <a:latin typeface="Calibri"/>
              </a:rPr>
              <a:t>13.3x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3520440" y="3986783"/>
            <a:ext cx="50292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1A1A1A"/>
                </a:solidFill>
                <a:latin typeface="Calibri"/>
              </a:rPr>
              <a:t>FY2028</a:t>
            </a:r>
          </a:p>
        </p:txBody>
      </p:sp>
      <p:sp>
        <p:nvSpPr>
          <p:cNvPr id="42" name="Rectangle 41"/>
          <p:cNvSpPr/>
          <p:nvPr/>
        </p:nvSpPr>
        <p:spPr>
          <a:xfrm>
            <a:off x="4023360" y="4041647"/>
            <a:ext cx="337184" cy="73152"/>
          </a:xfrm>
          <a:prstGeom prst="rect">
            <a:avLst/>
          </a:prstGeom>
          <a:solidFill>
            <a:srgbClr val="EFE8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Oval 42"/>
          <p:cNvSpPr/>
          <p:nvPr/>
        </p:nvSpPr>
        <p:spPr>
          <a:xfrm>
            <a:off x="4314825" y="4023359"/>
            <a:ext cx="91440" cy="109728"/>
          </a:xfrm>
          <a:prstGeom prst="ellipse">
            <a:avLst/>
          </a:prstGeom>
          <a:solidFill>
            <a:srgbClr val="7E68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4406265" y="4005071"/>
            <a:ext cx="41148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1A1A1A"/>
                </a:solidFill>
                <a:latin typeface="Calibri"/>
              </a:rPr>
              <a:t>11.8x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3886200" y="4297680"/>
            <a:ext cx="36576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b="0">
                <a:solidFill>
                  <a:srgbClr val="9A9A9A"/>
                </a:solidFill>
                <a:latin typeface="Calibri"/>
              </a:rPr>
              <a:t>9x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4663440" y="4297680"/>
            <a:ext cx="36576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b="0">
                <a:solidFill>
                  <a:srgbClr val="9A9A9A"/>
                </a:solidFill>
                <a:latin typeface="Calibri"/>
              </a:rPr>
              <a:t>15x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5440679" y="4297680"/>
            <a:ext cx="36576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b="0">
                <a:solidFill>
                  <a:srgbClr val="9A9A9A"/>
                </a:solidFill>
                <a:latin typeface="Calibri"/>
              </a:rPr>
              <a:t>20x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6217920" y="4297680"/>
            <a:ext cx="36576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b="0">
                <a:solidFill>
                  <a:srgbClr val="9A9A9A"/>
                </a:solidFill>
                <a:latin typeface="Calibri"/>
              </a:rPr>
              <a:t>26x</a:t>
            </a:r>
          </a:p>
        </p:txBody>
      </p:sp>
      <p:sp>
        <p:nvSpPr>
          <p:cNvPr id="49" name="Diamond 48"/>
          <p:cNvSpPr/>
          <p:nvPr/>
        </p:nvSpPr>
        <p:spPr>
          <a:xfrm>
            <a:off x="4287393" y="4242816"/>
            <a:ext cx="146304" cy="146304"/>
          </a:xfrm>
          <a:prstGeom prst="diamond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4451985" y="4224528"/>
            <a:ext cx="128016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b="0">
                <a:solidFill>
                  <a:srgbClr val="1A1A1A"/>
                </a:solidFill>
                <a:latin typeface="Calibri"/>
              </a:rPr>
              <a:t>Current  (11.8x)</a:t>
            </a:r>
          </a:p>
        </p:txBody>
      </p:sp>
      <p:sp>
        <p:nvSpPr>
          <p:cNvPr id="51" name="Rectangle 50"/>
          <p:cNvSpPr/>
          <p:nvPr/>
        </p:nvSpPr>
        <p:spPr>
          <a:xfrm>
            <a:off x="411480" y="4544568"/>
            <a:ext cx="6035040" cy="4572"/>
          </a:xfrm>
          <a:prstGeom prst="rect">
            <a:avLst/>
          </a:prstGeom>
          <a:solidFill>
            <a:srgbClr val="9A9A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411480" y="4636007"/>
            <a:ext cx="603504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1">
                <a:solidFill>
                  <a:srgbClr val="5C5C5C"/>
                </a:solidFill>
                <a:latin typeface="Calibri"/>
              </a:rPr>
              <a:t>PEER COMPARABLES  ·  SELECTED GLOBAL PEERS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411480" y="4837176"/>
            <a:ext cx="187452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0">
                <a:solidFill>
                  <a:srgbClr val="9A9A9A"/>
                </a:solidFill>
                <a:latin typeface="Calibri"/>
              </a:rPr>
              <a:t>COMPANY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2331720" y="4837176"/>
            <a:ext cx="96012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0">
                <a:solidFill>
                  <a:srgbClr val="9A9A9A"/>
                </a:solidFill>
                <a:latin typeface="Calibri"/>
              </a:rPr>
              <a:t>TICKER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3337560" y="4837176"/>
            <a:ext cx="96012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50" b="0">
                <a:solidFill>
                  <a:srgbClr val="9A9A9A"/>
                </a:solidFill>
                <a:latin typeface="Calibri"/>
              </a:rPr>
              <a:t>MCAP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4343400" y="4837176"/>
            <a:ext cx="594359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50" b="0">
                <a:solidFill>
                  <a:srgbClr val="9A9A9A"/>
                </a:solidFill>
                <a:latin typeface="Calibri"/>
              </a:rPr>
              <a:t>P/E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4983480" y="4837176"/>
            <a:ext cx="6858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50" b="0">
                <a:solidFill>
                  <a:srgbClr val="9A9A9A"/>
                </a:solidFill>
                <a:latin typeface="Calibri"/>
              </a:rPr>
              <a:t>DIV YIELD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5715000" y="4837176"/>
            <a:ext cx="6858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50" b="0">
                <a:solidFill>
                  <a:srgbClr val="9A9A9A"/>
                </a:solidFill>
                <a:latin typeface="Calibri"/>
              </a:rPr>
              <a:t>1Y RETURN</a:t>
            </a:r>
          </a:p>
        </p:txBody>
      </p:sp>
      <p:sp>
        <p:nvSpPr>
          <p:cNvPr id="59" name="Rectangle 58"/>
          <p:cNvSpPr/>
          <p:nvPr/>
        </p:nvSpPr>
        <p:spPr>
          <a:xfrm>
            <a:off x="411480" y="5074920"/>
            <a:ext cx="6035040" cy="4572"/>
          </a:xfrm>
          <a:prstGeom prst="rect">
            <a:avLst/>
          </a:prstGeom>
          <a:solidFill>
            <a:srgbClr val="9A9A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411480" y="5093208"/>
            <a:ext cx="187452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1A1A1A"/>
                </a:solidFill>
                <a:latin typeface="Calibri"/>
              </a:rPr>
              <a:t>iShares MSCI China ETF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2331720" y="5093208"/>
            <a:ext cx="96012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1A1A1A"/>
                </a:solidFill>
                <a:latin typeface="Calibri"/>
              </a:rPr>
              <a:t>MCHI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3337560" y="5093208"/>
            <a:ext cx="96012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>
                <a:solidFill>
                  <a:srgbClr val="1A1A1A"/>
                </a:solidFill>
                <a:latin typeface="Calibri"/>
              </a:rPr>
              <a:t>$6.6B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4343400" y="5093208"/>
            <a:ext cx="594359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>
                <a:solidFill>
                  <a:srgbClr val="1A1A1A"/>
                </a:solidFill>
                <a:latin typeface="Calibri"/>
              </a:rPr>
              <a:t>—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4983480" y="5093208"/>
            <a:ext cx="6858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>
                <a:solidFill>
                  <a:srgbClr val="1A1A1A"/>
                </a:solidFill>
                <a:latin typeface="Calibri"/>
              </a:rPr>
              <a:t>+31.1% YTD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5715000" y="5093208"/>
            <a:ext cx="6858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>
                <a:solidFill>
                  <a:srgbClr val="2F7D4F"/>
                </a:solidFill>
                <a:latin typeface="Calibri"/>
              </a:rPr>
              <a:t>+4.8%</a:t>
            </a:r>
          </a:p>
        </p:txBody>
      </p:sp>
      <p:sp>
        <p:nvSpPr>
          <p:cNvPr id="66" name="Rectangle 65"/>
          <p:cNvSpPr/>
          <p:nvPr/>
        </p:nvSpPr>
        <p:spPr>
          <a:xfrm>
            <a:off x="411480" y="7635240"/>
            <a:ext cx="6035040" cy="4572"/>
          </a:xfrm>
          <a:prstGeom prst="rect">
            <a:avLst/>
          </a:prstGeom>
          <a:solidFill>
            <a:srgbClr val="9A9A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411480" y="7726679"/>
            <a:ext cx="603504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1">
                <a:solidFill>
                  <a:srgbClr val="5C5C5C"/>
                </a:solidFill>
                <a:latin typeface="Calibri"/>
              </a:rPr>
              <a:t>MARKET SENTIMENT  ·  ANALYST CONSENSUS</a:t>
            </a:r>
          </a:p>
        </p:txBody>
      </p:sp>
      <p:sp>
        <p:nvSpPr>
          <p:cNvPr id="68" name="Rectangle 67"/>
          <p:cNvSpPr/>
          <p:nvPr/>
        </p:nvSpPr>
        <p:spPr>
          <a:xfrm>
            <a:off x="411480" y="7909560"/>
            <a:ext cx="1889759" cy="1051560"/>
          </a:xfrm>
          <a:prstGeom prst="rect">
            <a:avLst/>
          </a:prstGeom>
          <a:solidFill>
            <a:srgbClr val="FFFFFF"/>
          </a:solidFill>
          <a:ln w="6350">
            <a:solidFill>
              <a:srgbClr val="9A9A9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Rectangle 68"/>
          <p:cNvSpPr/>
          <p:nvPr/>
        </p:nvSpPr>
        <p:spPr>
          <a:xfrm>
            <a:off x="411480" y="7909560"/>
            <a:ext cx="45720" cy="1051560"/>
          </a:xfrm>
          <a:prstGeom prst="rect">
            <a:avLst/>
          </a:prstGeom>
          <a:solidFill>
            <a:srgbClr val="A288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TextBox 69"/>
          <p:cNvSpPr txBox="1"/>
          <p:nvPr/>
        </p:nvSpPr>
        <p:spPr>
          <a:xfrm>
            <a:off x="521208" y="8001000"/>
            <a:ext cx="1706879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1">
                <a:solidFill>
                  <a:srgbClr val="9A9A9A"/>
                </a:solidFill>
                <a:latin typeface="Calibri"/>
              </a:rPr>
              <a:t>CONSENSUS DISTRIBUTION</a:t>
            </a:r>
          </a:p>
        </p:txBody>
      </p:sp>
      <p:sp>
        <p:nvSpPr>
          <p:cNvPr id="71" name="Rectangle 70"/>
          <p:cNvSpPr/>
          <p:nvPr/>
        </p:nvSpPr>
        <p:spPr>
          <a:xfrm>
            <a:off x="521208" y="8220456"/>
            <a:ext cx="1561371" cy="146304"/>
          </a:xfrm>
          <a:prstGeom prst="rect">
            <a:avLst/>
          </a:prstGeom>
          <a:solidFill>
            <a:srgbClr val="2F7D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Rectangle 71"/>
          <p:cNvSpPr/>
          <p:nvPr/>
        </p:nvSpPr>
        <p:spPr>
          <a:xfrm>
            <a:off x="2082579" y="8220456"/>
            <a:ext cx="72621" cy="146304"/>
          </a:xfrm>
          <a:prstGeom prst="rect">
            <a:avLst/>
          </a:prstGeom>
          <a:solidFill>
            <a:srgbClr val="A288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Rectangle 72"/>
          <p:cNvSpPr/>
          <p:nvPr/>
        </p:nvSpPr>
        <p:spPr>
          <a:xfrm>
            <a:off x="2155201" y="8220456"/>
            <a:ext cx="36310" cy="146304"/>
          </a:xfrm>
          <a:prstGeom prst="rect">
            <a:avLst/>
          </a:prstGeom>
          <a:solidFill>
            <a:srgbClr val="B832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TextBox 73"/>
          <p:cNvSpPr txBox="1"/>
          <p:nvPr/>
        </p:nvSpPr>
        <p:spPr>
          <a:xfrm>
            <a:off x="521208" y="8421624"/>
            <a:ext cx="1670303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5C5C5C"/>
                </a:solidFill>
                <a:latin typeface="Calibri"/>
              </a:rPr>
              <a:t>Buy 93%   Hold 4%   Sell 2%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521208" y="8641080"/>
            <a:ext cx="1670303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0">
                <a:solidFill>
                  <a:srgbClr val="5C5C5C"/>
                </a:solidFill>
                <a:latin typeface="Calibri"/>
              </a:rPr>
              <a:t>46 analysts covering</a:t>
            </a:r>
          </a:p>
        </p:txBody>
      </p:sp>
      <p:sp>
        <p:nvSpPr>
          <p:cNvPr id="76" name="Rectangle 75"/>
          <p:cNvSpPr/>
          <p:nvPr/>
        </p:nvSpPr>
        <p:spPr>
          <a:xfrm>
            <a:off x="2484120" y="7909560"/>
            <a:ext cx="1889759" cy="1051560"/>
          </a:xfrm>
          <a:prstGeom prst="rect">
            <a:avLst/>
          </a:prstGeom>
          <a:solidFill>
            <a:srgbClr val="FFFFFF"/>
          </a:solidFill>
          <a:ln w="6350">
            <a:solidFill>
              <a:srgbClr val="9A9A9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Rectangle 76"/>
          <p:cNvSpPr/>
          <p:nvPr/>
        </p:nvSpPr>
        <p:spPr>
          <a:xfrm>
            <a:off x="2484120" y="7909560"/>
            <a:ext cx="45720" cy="1051560"/>
          </a:xfrm>
          <a:prstGeom prst="rect">
            <a:avLst/>
          </a:prstGeom>
          <a:solidFill>
            <a:srgbClr val="A288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TextBox 77"/>
          <p:cNvSpPr txBox="1"/>
          <p:nvPr/>
        </p:nvSpPr>
        <p:spPr>
          <a:xfrm>
            <a:off x="2593848" y="8001000"/>
            <a:ext cx="1706879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1">
                <a:solidFill>
                  <a:srgbClr val="9A9A9A"/>
                </a:solidFill>
                <a:latin typeface="Calibri"/>
              </a:rPr>
              <a:t>AVERAGE TARGET PRICE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2593848" y="8202168"/>
            <a:ext cx="1706879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1">
                <a:solidFill>
                  <a:srgbClr val="1A1A1A"/>
                </a:solidFill>
                <a:latin typeface="Calibri"/>
              </a:rPr>
              <a:t>CNY 725.47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2593848" y="8586216"/>
            <a:ext cx="1706879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5C5C5C"/>
                </a:solidFill>
                <a:latin typeface="Calibri"/>
              </a:rPr>
              <a:t>Range  CNY 420 — 890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2593848" y="8750808"/>
            <a:ext cx="1706879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2F7D4F"/>
                </a:solidFill>
                <a:latin typeface="Calibri"/>
              </a:rPr>
              <a:t>Implied +58.7% vs last close</a:t>
            </a:r>
          </a:p>
        </p:txBody>
      </p:sp>
      <p:sp>
        <p:nvSpPr>
          <p:cNvPr id="82" name="Rectangle 81"/>
          <p:cNvSpPr/>
          <p:nvPr/>
        </p:nvSpPr>
        <p:spPr>
          <a:xfrm>
            <a:off x="4556760" y="7909560"/>
            <a:ext cx="1889759" cy="1051560"/>
          </a:xfrm>
          <a:prstGeom prst="rect">
            <a:avLst/>
          </a:prstGeom>
          <a:solidFill>
            <a:srgbClr val="FFFFFF"/>
          </a:solidFill>
          <a:ln w="6350">
            <a:solidFill>
              <a:srgbClr val="9A9A9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Rectangle 82"/>
          <p:cNvSpPr/>
          <p:nvPr/>
        </p:nvSpPr>
        <p:spPr>
          <a:xfrm>
            <a:off x="4556760" y="7909560"/>
            <a:ext cx="45720" cy="1051560"/>
          </a:xfrm>
          <a:prstGeom prst="rect">
            <a:avLst/>
          </a:prstGeom>
          <a:solidFill>
            <a:srgbClr val="A288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TextBox 83"/>
          <p:cNvSpPr txBox="1"/>
          <p:nvPr/>
        </p:nvSpPr>
        <p:spPr>
          <a:xfrm>
            <a:off x="4666488" y="8001000"/>
            <a:ext cx="1706879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1">
                <a:solidFill>
                  <a:srgbClr val="9A9A9A"/>
                </a:solidFill>
                <a:latin typeface="Calibri"/>
              </a:rPr>
              <a:t>LAST BROKER ACTIONS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4666488" y="8220456"/>
            <a:ext cx="50292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5C5C5C"/>
                </a:solidFill>
                <a:latin typeface="Calibri"/>
              </a:rPr>
              <a:t>May. 08</a:t>
            </a:r>
          </a:p>
        </p:txBody>
      </p:sp>
      <p:sp>
        <p:nvSpPr>
          <p:cNvPr id="86" name="TextBox 85"/>
          <p:cNvSpPr txBox="1"/>
          <p:nvPr/>
        </p:nvSpPr>
        <p:spPr>
          <a:xfrm>
            <a:off x="5196840" y="8220456"/>
            <a:ext cx="1176527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1A1A1A"/>
                </a:solidFill>
                <a:latin typeface="Calibri"/>
              </a:rPr>
              <a:t>Zephirin Adjusts Tencent Holdings' Price Target to HK$420 from HK$480, Keeps at Strong Sell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4666488" y="8458200"/>
            <a:ext cx="50292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5C5C5C"/>
                </a:solidFill>
                <a:latin typeface="Calibri"/>
              </a:rPr>
              <a:t>Apr. 02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5196840" y="8458200"/>
            <a:ext cx="1176527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1A1A1A"/>
                </a:solidFill>
                <a:latin typeface="Calibri"/>
              </a:rPr>
              <a:t>SBG Securities Downgrades Tencent Holdings to Hold From Buy; Price Target is HK$650</a:t>
            </a:r>
          </a:p>
        </p:txBody>
      </p:sp>
      <p:sp>
        <p:nvSpPr>
          <p:cNvPr id="89" name="TextBox 88"/>
          <p:cNvSpPr txBox="1"/>
          <p:nvPr/>
        </p:nvSpPr>
        <p:spPr>
          <a:xfrm>
            <a:off x="4666488" y="8695944"/>
            <a:ext cx="50292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5C5C5C"/>
                </a:solidFill>
                <a:latin typeface="Calibri"/>
              </a:rPr>
              <a:t>Mar. 25</a:t>
            </a:r>
          </a:p>
        </p:txBody>
      </p:sp>
      <p:sp>
        <p:nvSpPr>
          <p:cNvPr id="90" name="TextBox 89"/>
          <p:cNvSpPr txBox="1"/>
          <p:nvPr/>
        </p:nvSpPr>
        <p:spPr>
          <a:xfrm>
            <a:off x="5196840" y="8695944"/>
            <a:ext cx="1176527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1A1A1A"/>
                </a:solidFill>
                <a:latin typeface="Calibri"/>
              </a:rPr>
              <a:t>Prosus Kept at Buy as BofA Notes Magnitude of Share Buyback; Forecasts Trimmed</a:t>
            </a:r>
          </a:p>
        </p:txBody>
      </p:sp>
      <p:sp>
        <p:nvSpPr>
          <p:cNvPr id="91" name="Rectangle 90"/>
          <p:cNvSpPr/>
          <p:nvPr/>
        </p:nvSpPr>
        <p:spPr>
          <a:xfrm>
            <a:off x="411480" y="11402568"/>
            <a:ext cx="6035040" cy="4572"/>
          </a:xfrm>
          <a:prstGeom prst="rect">
            <a:avLst/>
          </a:prstGeom>
          <a:solidFill>
            <a:srgbClr val="9A9A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2" name="TextBox 91"/>
          <p:cNvSpPr txBox="1"/>
          <p:nvPr/>
        </p:nvSpPr>
        <p:spPr>
          <a:xfrm>
            <a:off x="411480" y="11466576"/>
            <a:ext cx="603504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0">
                <a:solidFill>
                  <a:srgbClr val="5C5C5C"/>
                </a:solidFill>
                <a:latin typeface="Calibri"/>
              </a:rPr>
              <a:t>Source: investing, marketscreener, yahoo  |  Generated 13 May 2026  |  Analyst: Jabal Research</a:t>
            </a:r>
          </a:p>
        </p:txBody>
      </p:sp>
      <p:sp>
        <p:nvSpPr>
          <p:cNvPr id="93" name="TextBox 92"/>
          <p:cNvSpPr txBox="1"/>
          <p:nvPr/>
        </p:nvSpPr>
        <p:spPr>
          <a:xfrm>
            <a:off x="411480" y="11795760"/>
            <a:ext cx="502920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0">
                <a:solidFill>
                  <a:srgbClr val="5C5C5C"/>
                </a:solidFill>
                <a:latin typeface="Calibri"/>
              </a:rPr>
              <a:t>Jabal Asset Management  ·  Regulated by the Financial Services Authority of Oman</a:t>
            </a:r>
          </a:p>
        </p:txBody>
      </p:sp>
      <p:sp>
        <p:nvSpPr>
          <p:cNvPr id="94" name="TextBox 93"/>
          <p:cNvSpPr txBox="1"/>
          <p:nvPr/>
        </p:nvSpPr>
        <p:spPr>
          <a:xfrm>
            <a:off x="5532120" y="11795760"/>
            <a:ext cx="91440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50" b="0">
                <a:solidFill>
                  <a:srgbClr val="5C5C5C"/>
                </a:solidFill>
                <a:latin typeface="Calibri"/>
              </a:rPr>
              <a:t>3 / 3</a:t>
            </a:r>
          </a:p>
        </p:txBody>
      </p:sp>
      <p:sp>
        <p:nvSpPr>
          <p:cNvPr id="95" name="TextBox 94"/>
          <p:cNvSpPr txBox="1"/>
          <p:nvPr/>
        </p:nvSpPr>
        <p:spPr>
          <a:xfrm>
            <a:off x="411480" y="11960352"/>
            <a:ext cx="603504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750" b="0">
                <a:solidFill>
                  <a:srgbClr val="9A9A9A"/>
                </a:solidFill>
                <a:latin typeface="Calibri"/>
              </a:rPr>
              <a:t>CONFIDENTIAL  ·  FOR INSTITUTIONAL &amp; QUALIFIED INVESTORS ONLY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